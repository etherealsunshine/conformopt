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cac2c280424979" /><Relationship Type="http://schemas.openxmlformats.org/officeDocument/2006/relationships/extended-properties" Target="/docProps/app.xml" Id="R73379ff6b332460c" /><Relationship Type="http://schemas.openxmlformats.org/officeDocument/2006/relationships/officeDocument" Target="/ppt/presentation.xml" Id="Rcd95b7eda47e4e48" /></Relationships>
</file>

<file path=ppt/presentation.xml><?xml version="1.0" encoding="utf-8"?>
<p:presentation xmlns:p="http://schemas.openxmlformats.org/presentationml/2006/main">
  <p:sldMasterIdLst>
    <p:sldMasterId xmlns:r="http://schemas.openxmlformats.org/officeDocument/2006/relationships" id="2147483648" r:id="Red4e7b1afc374080"/>
  </p:sldMasterIdLst>
  <p:notesMasterIdLst>
    <p:notesMasterId xmlns:r="http://schemas.openxmlformats.org/officeDocument/2006/relationships" r:id="R89d5337be0fd457d"/>
  </p:notesMasterIdLst>
  <p:sldIdLst>
    <p:sldId xmlns:r="http://schemas.openxmlformats.org/officeDocument/2006/relationships" id="256" r:id="R08bb955aee254ded"/>
    <p:sldId xmlns:r="http://schemas.openxmlformats.org/officeDocument/2006/relationships" id="257" r:id="R7dd2ffa42cdf4d2d"/>
    <p:sldId xmlns:r="http://schemas.openxmlformats.org/officeDocument/2006/relationships" id="258" r:id="R8837ec62c3664631"/>
    <p:sldId xmlns:r="http://schemas.openxmlformats.org/officeDocument/2006/relationships" id="259" r:id="Rd9f5169b6b994d3d"/>
    <p:sldId xmlns:r="http://schemas.openxmlformats.org/officeDocument/2006/relationships" id="260" r:id="Re9f4d277981a4cce"/>
    <p:sldId xmlns:r="http://schemas.openxmlformats.org/officeDocument/2006/relationships" id="261" r:id="Rccabb50cf7ee47b0"/>
    <p:sldId xmlns:r="http://schemas.openxmlformats.org/officeDocument/2006/relationships" id="262" r:id="R448559b6f7b54e6d"/>
    <p:sldId xmlns:r="http://schemas.openxmlformats.org/officeDocument/2006/relationships" id="263" r:id="R297bba2f16394c73"/>
    <p:sldId xmlns:r="http://schemas.openxmlformats.org/officeDocument/2006/relationships" id="264" r:id="R86c89564d5d34653"/>
    <p:sldId xmlns:r="http://schemas.openxmlformats.org/officeDocument/2006/relationships" id="265" r:id="R61ef0a4cfbde43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63447c53284b45" /><Relationship Type="http://schemas.openxmlformats.org/officeDocument/2006/relationships/slideMaster" Target="/ppt/slideMasters/slideMaster1.xml" Id="Red4e7b1afc374080" /><Relationship Type="http://schemas.openxmlformats.org/officeDocument/2006/relationships/notesMaster" Target="/ppt/notesMasters/notesMaster1.xml" Id="R89d5337be0fd457d" /><Relationship Type="http://schemas.openxmlformats.org/officeDocument/2006/relationships/presProps" Target="/ppt/presProps.xml" Id="Rb6b8412214704574" /><Relationship Type="http://schemas.openxmlformats.org/officeDocument/2006/relationships/tableStyles" Target="/ppt/tableStyles.xml" Id="R37ebc21d1ada41ba" /><Relationship Type="http://schemas.openxmlformats.org/officeDocument/2006/relationships/slide" Target="/ppt/slides/slide1.xml" Id="R08bb955aee254ded" /><Relationship Type="http://schemas.openxmlformats.org/officeDocument/2006/relationships/slide" Target="/ppt/slides/slide2.xml" Id="R7dd2ffa42cdf4d2d" /><Relationship Type="http://schemas.openxmlformats.org/officeDocument/2006/relationships/slide" Target="/ppt/slides/slide3.xml" Id="R8837ec62c3664631" /><Relationship Type="http://schemas.openxmlformats.org/officeDocument/2006/relationships/slide" Target="/ppt/slides/slide4.xml" Id="Rd9f5169b6b994d3d" /><Relationship Type="http://schemas.openxmlformats.org/officeDocument/2006/relationships/slide" Target="/ppt/slides/slide5.xml" Id="Re9f4d277981a4cce" /><Relationship Type="http://schemas.openxmlformats.org/officeDocument/2006/relationships/slide" Target="/ppt/slides/slide6.xml" Id="Rccabb50cf7ee47b0" /><Relationship Type="http://schemas.openxmlformats.org/officeDocument/2006/relationships/slide" Target="/ppt/slides/slide7.xml" Id="R448559b6f7b54e6d" /><Relationship Type="http://schemas.openxmlformats.org/officeDocument/2006/relationships/slide" Target="/ppt/slides/slide8.xml" Id="R297bba2f16394c73" /><Relationship Type="http://schemas.openxmlformats.org/officeDocument/2006/relationships/slide" Target="/ppt/slides/slide9.xml" Id="R86c89564d5d34653" /><Relationship Type="http://schemas.openxmlformats.org/officeDocument/2006/relationships/slide" Target="/ppt/slides/slide10.xml" Id="R61ef0a4cfbde43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1ae5fb773940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9c2039bdbe447f" /><Relationship Type="http://schemas.openxmlformats.org/officeDocument/2006/relationships/notesMaster" Target="/ppt/notesMasters/notesMaster1.xml" Id="R1b90e3067b3345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974cb37a7e4e3f" /><Relationship Type="http://schemas.openxmlformats.org/officeDocument/2006/relationships/notesMaster" Target="/ppt/notesMasters/notesMaster1.xml" Id="R90f49cdfb69c44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876e5d702d43f5" /><Relationship Type="http://schemas.openxmlformats.org/officeDocument/2006/relationships/notesMaster" Target="/ppt/notesMasters/notesMaster1.xml" Id="R431d96d086d140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785e91167747be" /><Relationship Type="http://schemas.openxmlformats.org/officeDocument/2006/relationships/notesMaster" Target="/ppt/notesMasters/notesMaster1.xml" Id="Re86d3c202b624c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22a184074842cc" /><Relationship Type="http://schemas.openxmlformats.org/officeDocument/2006/relationships/notesMaster" Target="/ppt/notesMasters/notesMaster1.xml" Id="Rd9b65906be434b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144923aa43455b" /><Relationship Type="http://schemas.openxmlformats.org/officeDocument/2006/relationships/notesMaster" Target="/ppt/notesMasters/notesMaster1.xml" Id="R2882c8848b6346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7ed7eaaeac4407" /><Relationship Type="http://schemas.openxmlformats.org/officeDocument/2006/relationships/notesMaster" Target="/ppt/notesMasters/notesMaster1.xml" Id="Rd7ec36ab29dd49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77bd144dff4b0a" /><Relationship Type="http://schemas.openxmlformats.org/officeDocument/2006/relationships/notesMaster" Target="/ppt/notesMasters/notesMaster1.xml" Id="Rbe67d37279bd46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ecb3a148b142f6" /><Relationship Type="http://schemas.openxmlformats.org/officeDocument/2006/relationships/notesMaster" Target="/ppt/notesMasters/notesMaster1.xml" Id="R5c6e2c4a9af848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c3522b417f449f" /><Relationship Type="http://schemas.openxmlformats.org/officeDocument/2006/relationships/notesMaster" Target="/ppt/notesMasters/notesMaster1.xml" Id="Rca92fbc2079b46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distinction. We used to phrase the problem as 'we do not find the minor conformer.' The newer evidence says the minor density is often already in the model, but in the wrong configuration. That changes the mechanism we should test.</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are per start across 20 sites x 50 starts. The middle of the cascade matters: only four starts drop at the rotamer/direct/symmetry gates after occupancy. The large downstream drop is tmol, not a geometric mismatch between soft objective and hard audit.</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conditional on exactly one conformer being recovered. The classification is by occupancy rank rather than A/B label, because the A/B label is not consistently the major/minor state across the panel.</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narrate this as a graveyard of attempts. The pattern is the argument. Initialization is the sharpest null: even slots initialized on the minor moved away, so the issue was not simply lack of initial coverage.</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ceiling slide. If deposited ground truth only fits the residual at r=0.340 and fitted occupancy 0.070, no insertion rule can do much better. That result closes insertion, not escape.</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caps upside. 5Z8H and 2VFP together account for 70 of the 142 missed-minor failures. The right interpretation is not that the optimizer is innocent everywhere, but that a large chunk of the tail is near or beyond the support-resolution limit.</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movable-point argument. The wrong configuration explains real density at about 66 percent efficiency, so the objective rewards it locally. Gradient descent will not first break that partial fit in order to find a better one.</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the question for Fraser. S2 at 30 degrees per step was too much: it damaged convergence and worsened both missed-minor and missed-major categories. That does not refute escape. S1 at 10 degrees is the clean version of the question.</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someone asks about what changed between metric versions. The important answer is that v3 fixed assignment accounting and is frozen for model experiments.</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if someone wants to know whether the missed-minor result is panel-wide. It is not uniform; 2VFP, 5Z8H, 1ZV8, 7UO8, and 4C16 carry much of the tail.</a:t>
            </a:r>
          </a:p>
          <a:p xmlns:a="http://schemas.openxmlformats.org/drawingml/2006/main">
            <a:r>
              <a:t>[Sources]</a:t>
            </a:r>
          </a:p>
          <a:p xmlns:a="http://schemas.openxmlformats.org/drawingml/2006/main">
            <a:r>
              <a:t>- User-provided slide brief: /Users/utkarsh/.codex/attachments/07c7ce2a-9d78-4b26-a742-bc4b9973ba5e/pasted-text.txt</a:t>
            </a:r>
          </a:p>
          <a:p xmlns:a="http://schemas.openxmlformats.org/drawingml/2006/main">
            <a:r>
              <a:t>- Frozen metric data copied locally: /Users/utkarsh/qfitonsteroids/results/frozen_v3_metric_data_0p5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91bbc946cc49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a4f8e1fc5f4c93" /><Relationship Type="http://schemas.openxmlformats.org/officeDocument/2006/relationships/slideLayout" Target="/ppt/slideLayouts/slideLayout1.xml" Id="R9a553b603e0b4a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553b603e0b4a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666b7f20664747" /><Relationship Type="http://schemas.openxmlformats.org/officeDocument/2006/relationships/notesSlide" Target="/ppt/notesSlides/notesSlide1.xml" Id="Rda417e1d62df4e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4232a73ae64857" /><Relationship Type="http://schemas.openxmlformats.org/officeDocument/2006/relationships/chart" Target="/ppt/slides/charts/chart1.xml" Id="R1389ff23ff20453b" /><Relationship Type="http://schemas.openxmlformats.org/officeDocument/2006/relationships/notesSlide" Target="/ppt/notesSlides/notesSlide2.xml" Id="R09ab1587cd8c45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8b3ba21e194aab" /><Relationship Type="http://schemas.openxmlformats.org/officeDocument/2006/relationships/chart" Target="/ppt/slides/charts/chart2.xml" Id="Rfa7eb99fd89d4686" /><Relationship Type="http://schemas.openxmlformats.org/officeDocument/2006/relationships/notesSlide" Target="/ppt/notesSlides/notesSlide3.xml" Id="R586d7c9da17c46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01e876206f4635" /><Relationship Type="http://schemas.openxmlformats.org/officeDocument/2006/relationships/notesSlide" Target="/ppt/notesSlides/notesSlide4.xml" Id="R73ef056ed27648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0c88317b064e0c" /><Relationship Type="http://schemas.openxmlformats.org/officeDocument/2006/relationships/notesSlide" Target="/ppt/notesSlides/notesSlide5.xml" Id="R810b5e323b3843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3d3f1970e94cad" /><Relationship Type="http://schemas.openxmlformats.org/officeDocument/2006/relationships/chart" Target="/ppt/slides/charts/chart3.xml" Id="R0e52cee473b2432d" /><Relationship Type="http://schemas.openxmlformats.org/officeDocument/2006/relationships/notesSlide" Target="/ppt/notesSlides/notesSlide6.xml" Id="R158cfba7499746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c8ca0918224757" /><Relationship Type="http://schemas.openxmlformats.org/officeDocument/2006/relationships/notesSlide" Target="/ppt/notesSlides/notesSlide7.xml" Id="R127552980cce4b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58f04d8288465e" /><Relationship Type="http://schemas.openxmlformats.org/officeDocument/2006/relationships/notesSlide" Target="/ppt/notesSlides/notesSlide8.xml" Id="Rb92bb36fa91e42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bb3bc01ada4af6" /><Relationship Type="http://schemas.openxmlformats.org/officeDocument/2006/relationships/notesSlide" Target="/ppt/notesSlides/notesSlide9.xml" Id="R0cdc63db85124a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58a3b2ff7a4f60" /><Relationship Type="http://schemas.openxmlformats.org/officeDocument/2006/relationships/notesSlide" Target="/ppt/notesSlides/notesSlide10.xml" Id="R5b1e40ac43674deb" /></Relationships>
</file>

<file path=ppt/slides/charts/chart1.xml><?xml version="1.0" encoding="utf-8"?>
<c:chartSpace xmlns:c="http://schemas.openxmlformats.org/drawingml/2006/chart">
  <c:lang val="en-US"/>
  <c:chart>
    <c:plotArea>
      <c:barChart>
        <c:barDir val="col"/>
        <c:varyColors val="0"/>
        <c:ser>
          <c:idx val="0"/>
          <c:order val="0"/>
          <c:tx>
            <c:v>starts</c:v>
          </c:tx>
          <c:spPr>
            <a:solidFill xmlns:a="http://schemas.openxmlformats.org/drawingml/2006/main">
              <a:srgbClr val="3D8DFF"/>
            </a:solidFill>
          </c:spPr>
          <c:cat>
            <c:strLit>
              <c:ptCount val="4"/>
              <c:pt idx="0">
                <c:v>Found</c:v>
              </c:pt>
              <c:pt idx="1">
                <c:v>Occupancy</c:v>
              </c:pt>
              <c:pt idx="2">
                <c:v>Geom.</c:v>
              </c:pt>
              <c:pt idx="3">
                <c:v>Strict</c:v>
              </c:pt>
            </c:strLit>
          </c:cat>
          <c:val>
            <c:numLit>
              <c:formatCode>General</c:formatCode>
              <c:ptCount val="4"/>
              <c:pt idx="0">
                <c:v>742</c:v>
              </c:pt>
              <c:pt idx="1">
                <c:v>714</c:v>
              </c:pt>
              <c:pt idx="2">
                <c:v>710</c:v>
              </c:pt>
              <c:pt idx="3">
                <c:v>626</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250"/>
      </c:valAx>
    </c:plotArea>
    <c:plotVisOnly val="1"/>
  </c:chart>
</c:chartSpace>
</file>

<file path=ppt/slides/charts/chart2.xml><?xml version="1.0" encoding="utf-8"?>
<c:chartSpace xmlns:c="http://schemas.openxmlformats.org/drawingml/2006/chart">
  <c:lang val="en-US"/>
  <c:chart>
    <c:plotArea>
      <c:barChart>
        <c:barDir val="col"/>
        <c:varyColors val="0"/>
        <c:ser>
          <c:idx val="0"/>
          <c:order val="0"/>
          <c:tx>
            <c:v>starts</c:v>
          </c:tx>
          <c:spPr>
            <a:solidFill xmlns:a="http://schemas.openxmlformats.org/drawingml/2006/main">
              <a:srgbClr val="3D8DFF"/>
            </a:solidFill>
          </c:spPr>
          <c:cat>
            <c:strLit>
              <c:ptCount val="2"/>
              <c:pt idx="0">
                <c:v>missed minor</c:v>
              </c:pt>
              <c:pt idx="1">
                <c:v>missed major</c:v>
              </c:pt>
            </c:strLit>
          </c:cat>
          <c:val>
            <c:numLit>
              <c:formatCode>General</c:formatCode>
              <c:ptCount val="2"/>
              <c:pt idx="0">
                <c:v>142</c:v>
              </c:pt>
              <c:pt idx="1">
                <c:v>45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40"/>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missed-minor failures</c:v>
          </c:tx>
          <c:spPr>
            <a:solidFill xmlns:a="http://schemas.openxmlformats.org/drawingml/2006/main">
              <a:srgbClr val="C9473A"/>
            </a:solidFill>
          </c:spPr>
          <c:cat>
            <c:strLit>
              <c:ptCount val="5"/>
              <c:pt idx="0">
                <c:v>5Z8H</c:v>
              </c:pt>
              <c:pt idx="1">
                <c:v>2VFP</c:v>
              </c:pt>
              <c:pt idx="2">
                <c:v>1ZV8</c:v>
              </c:pt>
              <c:pt idx="3">
                <c:v>7UO8</c:v>
              </c:pt>
              <c:pt idx="4">
                <c:v>4C16</c:v>
              </c:pt>
            </c:strLit>
          </c:cat>
          <c:val>
            <c:numLit>
              <c:formatCode>General</c:formatCode>
              <c:ptCount val="5"/>
              <c:pt idx="0">
                <c:v>26</c:v>
              </c:pt>
              <c:pt idx="1">
                <c:v>44</c:v>
              </c:pt>
              <c:pt idx="2">
                <c:v>20</c:v>
              </c:pt>
              <c:pt idx="3">
                <c:v>15</c:v>
              </c:pt>
              <c:pt idx="4">
                <c:v>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left-band">
            <a:extLst xmlns:a="http://schemas.openxmlformats.org/drawingml/2006/main">
              <a:ext uri="{FF2B5EF4-FFF2-40B4-BE49-F238E27FC236}">
                <a16:creationId xmlns:a16="http://schemas.microsoft.com/office/drawing/2014/main" id="{9B92B31E-60BD-42FE-BD17-3CD610721BAF}"/>
              </a:ext>
            </a:extLst>
          </p:cNvPr>
          <p:cNvSpPr>
            <a:spLocks xmlns:a="http://schemas.openxmlformats.org/drawingml/2006/main" noGrp="1"/>
          </p:cNvSpPr>
          <p:nvPr/>
        </p:nvSpPr>
        <p:spPr>
          <a:xfrm xmlns:a="http://schemas.openxmlformats.org/drawingml/2006/main">
            <a:off x="0" y="0"/>
            <a:ext cx="361950" cy="68580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2" name="small-kicker">
            <a:extLst xmlns:a="http://schemas.openxmlformats.org/drawingml/2006/main">
              <a:ext uri="{FF2B5EF4-FFF2-40B4-BE49-F238E27FC236}">
                <a16:creationId xmlns:a16="http://schemas.microsoft.com/office/drawing/2014/main" id="{00225597-B7C7-4B49-9D0D-65F951AFCA5B}"/>
              </a:ext>
            </a:extLst>
          </p:cNvPr>
          <p:cNvSpPr>
            <a:spLocks xmlns:a="http://schemas.openxmlformats.org/drawingml/2006/main" noGrp="1"/>
          </p:cNvSpPr>
          <p:nvPr/>
        </p:nvSpPr>
        <p:spPr>
          <a:xfrm xmlns:a="http://schemas.openxmlformats.org/drawingml/2006/main">
            <a:off x="685800" y="6858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9616D"/>
                </a:solidFill>
              </a:defRPr>
            </a:pPr>
            <a:r>
              <a:rPr sz="1200" b="1">
                <a:solidFill>
                  <a:srgbClr val="59616D"/>
                </a:solidFill>
              </a:rPr>
              <a:t>SYNTHETIC 20-SITE AUDIT</a:t>
            </a:r>
          </a:p>
        </p:txBody>
      </p:sp>
      <p:sp>
        <p:nvSpPr>
          <p:cNvPr id="3" name="cover-title">
            <a:extLst xmlns:a="http://schemas.openxmlformats.org/drawingml/2006/main">
              <a:ext uri="{FF2B5EF4-FFF2-40B4-BE49-F238E27FC236}">
                <a16:creationId xmlns:a16="http://schemas.microsoft.com/office/drawing/2014/main" id="{B4FF29F2-2578-4920-B4FA-4E5D17F566FB}"/>
              </a:ext>
            </a:extLst>
          </p:cNvPr>
          <p:cNvSpPr>
            <a:spLocks xmlns:a="http://schemas.openxmlformats.org/drawingml/2006/main" noGrp="1"/>
          </p:cNvSpPr>
          <p:nvPr/>
        </p:nvSpPr>
        <p:spPr>
          <a:xfrm xmlns:a="http://schemas.openxmlformats.org/drawingml/2006/main">
            <a:off x="685800" y="1619250"/>
            <a:ext cx="8953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000000"/>
                </a:solidFill>
              </a:defRPr>
            </a:pPr>
            <a:r>
              <a:rPr sz="4800" b="1">
                <a:solidFill>
                  <a:srgbClr val="000000"/>
                </a:solidFill>
              </a:rPr>
              <a:t>Misplaced, not missing</a:t>
            </a:r>
          </a:p>
        </p:txBody>
      </p:sp>
      <p:sp>
        <p:nvSpPr>
          <p:cNvPr id="4" name="subtitle">
            <a:extLst xmlns:a="http://schemas.openxmlformats.org/drawingml/2006/main">
              <a:ext uri="{FF2B5EF4-FFF2-40B4-BE49-F238E27FC236}">
                <a16:creationId xmlns:a16="http://schemas.microsoft.com/office/drawing/2014/main" id="{049FD737-1052-4A12-938B-4C271193729F}"/>
              </a:ext>
            </a:extLst>
          </p:cNvPr>
          <p:cNvSpPr>
            <a:spLocks xmlns:a="http://schemas.openxmlformats.org/drawingml/2006/main" noGrp="1"/>
          </p:cNvSpPr>
          <p:nvPr/>
        </p:nvSpPr>
        <p:spPr>
          <a:xfrm xmlns:a="http://schemas.openxmlformats.org/drawingml/2006/main">
            <a:off x="685800" y="3000375"/>
            <a:ext cx="8286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59616D"/>
                </a:solidFill>
              </a:defRPr>
            </a:pPr>
            <a:r>
              <a:rPr sz="1950" b="0">
                <a:solidFill>
                  <a:srgbClr val="59616D"/>
                </a:solidFill>
              </a:rPr>
              <a:t>Why the synthetic tail is no longer an insertion problem, and why escape remains the live question.</a:t>
            </a:r>
          </a:p>
        </p:txBody>
      </p:sp>
      <p:sp>
        <p:nvSpPr>
          <p:cNvPr id="5" name="metric-both conformers found">
            <a:extLst xmlns:a="http://schemas.openxmlformats.org/drawingml/2006/main">
              <a:ext uri="{FF2B5EF4-FFF2-40B4-BE49-F238E27FC236}">
                <a16:creationId xmlns:a16="http://schemas.microsoft.com/office/drawing/2014/main" id="{605DF6F0-8D15-49FA-AD13-2524B6CDCB67}"/>
              </a:ext>
            </a:extLst>
          </p:cNvPr>
          <p:cNvSpPr>
            <a:spLocks xmlns:a="http://schemas.openxmlformats.org/drawingml/2006/main" noGrp="1"/>
          </p:cNvSpPr>
          <p:nvPr/>
        </p:nvSpPr>
        <p:spPr>
          <a:xfrm xmlns:a="http://schemas.openxmlformats.org/drawingml/2006/main">
            <a:off x="685800" y="47625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A7F64"/>
                </a:solidFill>
              </a:defRPr>
            </a:pPr>
            <a:r>
              <a:rPr sz="3600" b="1">
                <a:solidFill>
                  <a:srgbClr val="1A7F64"/>
                </a:solidFill>
              </a:rPr>
              <a:t>742</a:t>
            </a:r>
          </a:p>
        </p:txBody>
      </p:sp>
      <p:sp>
        <p:nvSpPr>
          <p:cNvPr id="6" name="metric-label-both conformers found">
            <a:extLst xmlns:a="http://schemas.openxmlformats.org/drawingml/2006/main">
              <a:ext uri="{FF2B5EF4-FFF2-40B4-BE49-F238E27FC236}">
                <a16:creationId xmlns:a16="http://schemas.microsoft.com/office/drawing/2014/main" id="{833DB1ED-F5E9-413A-B934-018F41C5A555}"/>
              </a:ext>
            </a:extLst>
          </p:cNvPr>
          <p:cNvSpPr>
            <a:spLocks xmlns:a="http://schemas.openxmlformats.org/drawingml/2006/main" noGrp="1"/>
          </p:cNvSpPr>
          <p:nvPr/>
        </p:nvSpPr>
        <p:spPr>
          <a:xfrm xmlns:a="http://schemas.openxmlformats.org/drawingml/2006/main">
            <a:off x="685800" y="535305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both conformers found</a:t>
            </a:r>
          </a:p>
        </p:txBody>
      </p:sp>
      <p:sp>
        <p:nvSpPr>
          <p:cNvPr id="7" name="metric-strict successes">
            <a:extLst xmlns:a="http://schemas.openxmlformats.org/drawingml/2006/main">
              <a:ext uri="{FF2B5EF4-FFF2-40B4-BE49-F238E27FC236}">
                <a16:creationId xmlns:a16="http://schemas.microsoft.com/office/drawing/2014/main" id="{D4928E2F-E080-4523-92AF-99376DCE9F67}"/>
              </a:ext>
            </a:extLst>
          </p:cNvPr>
          <p:cNvSpPr>
            <a:spLocks xmlns:a="http://schemas.openxmlformats.org/drawingml/2006/main" noGrp="1"/>
          </p:cNvSpPr>
          <p:nvPr/>
        </p:nvSpPr>
        <p:spPr>
          <a:xfrm xmlns:a="http://schemas.openxmlformats.org/drawingml/2006/main">
            <a:off x="3400425" y="47625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00000"/>
                </a:solidFill>
              </a:defRPr>
            </a:pPr>
            <a:r>
              <a:rPr sz="3600" b="1">
                <a:solidFill>
                  <a:srgbClr val="000000"/>
                </a:solidFill>
              </a:rPr>
              <a:t>626</a:t>
            </a:r>
          </a:p>
        </p:txBody>
      </p:sp>
      <p:sp>
        <p:nvSpPr>
          <p:cNvPr id="8" name="metric-label-strict successes">
            <a:extLst xmlns:a="http://schemas.openxmlformats.org/drawingml/2006/main">
              <a:ext uri="{FF2B5EF4-FFF2-40B4-BE49-F238E27FC236}">
                <a16:creationId xmlns:a16="http://schemas.microsoft.com/office/drawing/2014/main" id="{2D133DE3-5392-474F-BE5C-FB1497E2F321}"/>
              </a:ext>
            </a:extLst>
          </p:cNvPr>
          <p:cNvSpPr>
            <a:spLocks xmlns:a="http://schemas.openxmlformats.org/drawingml/2006/main" noGrp="1"/>
          </p:cNvSpPr>
          <p:nvPr/>
        </p:nvSpPr>
        <p:spPr>
          <a:xfrm xmlns:a="http://schemas.openxmlformats.org/drawingml/2006/main">
            <a:off x="3400425" y="535305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strict successes</a:t>
            </a:r>
          </a:p>
        </p:txBody>
      </p:sp>
      <p:sp>
        <p:nvSpPr>
          <p:cNvPr id="9" name="metric-escape test still open">
            <a:extLst xmlns:a="http://schemas.openxmlformats.org/drawingml/2006/main">
              <a:ext uri="{FF2B5EF4-FFF2-40B4-BE49-F238E27FC236}">
                <a16:creationId xmlns:a16="http://schemas.microsoft.com/office/drawing/2014/main" id="{EF9F3687-D0A3-4C01-837A-6977748D3806}"/>
              </a:ext>
            </a:extLst>
          </p:cNvPr>
          <p:cNvSpPr>
            <a:spLocks xmlns:a="http://schemas.openxmlformats.org/drawingml/2006/main" noGrp="1"/>
          </p:cNvSpPr>
          <p:nvPr/>
        </p:nvSpPr>
        <p:spPr>
          <a:xfrm xmlns:a="http://schemas.openxmlformats.org/drawingml/2006/main">
            <a:off x="6115050" y="47625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3D8DFF"/>
                </a:solidFill>
              </a:defRPr>
            </a:pPr>
            <a:r>
              <a:rPr sz="3600" b="1">
                <a:solidFill>
                  <a:srgbClr val="3D8DFF"/>
                </a:solidFill>
              </a:rPr>
              <a:t>S1</a:t>
            </a:r>
          </a:p>
        </p:txBody>
      </p:sp>
      <p:sp>
        <p:nvSpPr>
          <p:cNvPr id="10" name="metric-label-escape test still open">
            <a:extLst xmlns:a="http://schemas.openxmlformats.org/drawingml/2006/main">
              <a:ext uri="{FF2B5EF4-FFF2-40B4-BE49-F238E27FC236}">
                <a16:creationId xmlns:a16="http://schemas.microsoft.com/office/drawing/2014/main" id="{5A6DE670-A2F1-4546-B097-92AA77993303}"/>
              </a:ext>
            </a:extLst>
          </p:cNvPr>
          <p:cNvSpPr>
            <a:spLocks xmlns:a="http://schemas.openxmlformats.org/drawingml/2006/main" noGrp="1"/>
          </p:cNvSpPr>
          <p:nvPr/>
        </p:nvSpPr>
        <p:spPr>
          <a:xfrm xmlns:a="http://schemas.openxmlformats.org/drawingml/2006/main">
            <a:off x="6115050" y="535305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escape test still open</a:t>
            </a:r>
          </a:p>
        </p:txBody>
      </p:sp>
      <p:sp>
        <p:nvSpPr>
          <p:cNvPr id="11" name="footer">
            <a:extLst xmlns:a="http://schemas.openxmlformats.org/drawingml/2006/main">
              <a:ext uri="{FF2B5EF4-FFF2-40B4-BE49-F238E27FC236}">
                <a16:creationId xmlns:a16="http://schemas.microsoft.com/office/drawing/2014/main" id="{BC8A8113-A13E-49E8-87B2-11F5092FBD19}"/>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1</a:t>
            </a:r>
          </a:p>
        </p:txBody>
      </p:sp>
    </p:spTree>
    <p:extLst>
      <p:ext uri="{BB962C8B-B14F-4D97-AF65-F5344CB8AC3E}">
        <p14:creationId xmlns:p14="http://schemas.microsoft.com/office/powerpoint/2010/main" val="12652006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icker">
            <a:extLst xmlns:a="http://schemas.openxmlformats.org/drawingml/2006/main">
              <a:ext uri="{FF2B5EF4-FFF2-40B4-BE49-F238E27FC236}">
                <a16:creationId xmlns:a16="http://schemas.microsoft.com/office/drawing/2014/main" id="{4DB95C45-56B7-4B94-B94C-45AE8FB05BDA}"/>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364E44D0-56EE-4ED8-8051-D847CC63FE6E}"/>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The frozen metric is strong, but the tail is real</a:t>
            </a:r>
          </a:p>
        </p:txBody>
      </p:sp>
      <p:sp>
        <p:nvSpPr>
          <p:cNvPr id="3" name="rule">
            <a:extLst xmlns:a="http://schemas.openxmlformats.org/drawingml/2006/main">
              <a:ext uri="{FF2B5EF4-FFF2-40B4-BE49-F238E27FC236}">
                <a16:creationId xmlns:a16="http://schemas.microsoft.com/office/drawing/2014/main" id="{A6C694AF-4AA4-4107-8300-C00DB54844F8}"/>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graphicFrame>
        <p:nvGraphicFramePr>
          <p:cNvPr id="11" name="Chart"/>
          <p:cNvGraphicFramePr/>
          <p:nvPr/>
        </p:nvGraphicFramePr>
        <p:xfrm>
          <a:off xmlns:a="http://schemas.openxmlformats.org/drawingml/2006/main" x="1047750" y="2190750"/>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1389ff23ff20453b"/>
          </a:graphicData>
        </a:graphic>
      </p:graphicFrame>
      <p:sp>
        <p:nvSpPr>
          <p:cNvPr id="5" name="cascade-callout">
            <a:extLst xmlns:a="http://schemas.openxmlformats.org/drawingml/2006/main">
              <a:ext uri="{FF2B5EF4-FFF2-40B4-BE49-F238E27FC236}">
                <a16:creationId xmlns:a16="http://schemas.microsoft.com/office/drawing/2014/main" id="{9A65257E-DCDD-4FA8-AB07-CF7D8D33CC4D}"/>
              </a:ext>
            </a:extLst>
          </p:cNvPr>
          <p:cNvSpPr>
            <a:spLocks xmlns:a="http://schemas.openxmlformats.org/drawingml/2006/main" noGrp="1"/>
          </p:cNvSpPr>
          <p:nvPr/>
        </p:nvSpPr>
        <p:spPr>
          <a:xfrm xmlns:a="http://schemas.openxmlformats.org/drawingml/2006/main">
            <a:off x="8382000" y="2400300"/>
            <a:ext cx="2857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Rotamer, clash, and symmetry remove only 4 starts after occupancy; tmol is the dominant remaining filter.</a:t>
            </a:r>
          </a:p>
        </p:txBody>
      </p:sp>
      <p:sp>
        <p:nvSpPr>
          <p:cNvPr id="6" name="cascade-sub">
            <a:extLst xmlns:a="http://schemas.openxmlformats.org/drawingml/2006/main">
              <a:ext uri="{FF2B5EF4-FFF2-40B4-BE49-F238E27FC236}">
                <a16:creationId xmlns:a16="http://schemas.microsoft.com/office/drawing/2014/main" id="{7464872C-8B73-425C-82C8-E91772A7A44B}"/>
              </a:ext>
            </a:extLst>
          </p:cNvPr>
          <p:cNvSpPr>
            <a:spLocks xmlns:a="http://schemas.openxmlformats.org/drawingml/2006/main" noGrp="1"/>
          </p:cNvSpPr>
          <p:nvPr/>
        </p:nvSpPr>
        <p:spPr>
          <a:xfrm xmlns:a="http://schemas.openxmlformats.org/drawingml/2006/main">
            <a:off x="8382000" y="44767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9616D"/>
                </a:solidFill>
              </a:defRPr>
            </a:pPr>
            <a:r>
              <a:rPr sz="1275" b="0">
                <a:solidFill>
                  <a:srgbClr val="59616D"/>
                </a:solidFill>
              </a:rPr>
              <a:t>Frozen metric: qfit-synth20-merge050-one-to-one-tmol044-v3</a:t>
            </a:r>
          </a:p>
        </p:txBody>
      </p:sp>
      <p:sp>
        <p:nvSpPr>
          <p:cNvPr id="7" name="footer">
            <a:extLst xmlns:a="http://schemas.openxmlformats.org/drawingml/2006/main">
              <a:ext uri="{FF2B5EF4-FFF2-40B4-BE49-F238E27FC236}">
                <a16:creationId xmlns:a16="http://schemas.microsoft.com/office/drawing/2014/main" id="{4E6E49FB-BEF8-47D6-B0D7-FF3FE7194BD8}"/>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2</a:t>
            </a:r>
          </a:p>
        </p:txBody>
      </p:sp>
    </p:spTree>
    <p:extLst>
      <p:ext uri="{BB962C8B-B14F-4D97-AF65-F5344CB8AC3E}">
        <p14:creationId xmlns:p14="http://schemas.microsoft.com/office/powerpoint/2010/main" val="18190890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3FB7BF47-E9C8-4918-AEC4-B15248378FA2}"/>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ABB27411-6B53-4306-B47F-92F022BADE64}"/>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Single-recovery failures mostly lose the minor state</a:t>
            </a:r>
          </a:p>
        </p:txBody>
      </p:sp>
      <p:sp>
        <p:nvSpPr>
          <p:cNvPr id="3" name="rule">
            <a:extLst xmlns:a="http://schemas.openxmlformats.org/drawingml/2006/main">
              <a:ext uri="{FF2B5EF4-FFF2-40B4-BE49-F238E27FC236}">
                <a16:creationId xmlns:a16="http://schemas.microsoft.com/office/drawing/2014/main" id="{2AE8C4AC-3906-4FA1-A416-1999C7BBE5AD}"/>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4" name="metric-single-recovery starts">
            <a:extLst xmlns:a="http://schemas.openxmlformats.org/drawingml/2006/main">
              <a:ext uri="{FF2B5EF4-FFF2-40B4-BE49-F238E27FC236}">
                <a16:creationId xmlns:a16="http://schemas.microsoft.com/office/drawing/2014/main" id="{7AAADA8F-897A-43A4-9BB8-00AE433AC1A3}"/>
              </a:ext>
            </a:extLst>
          </p:cNvPr>
          <p:cNvSpPr>
            <a:spLocks xmlns:a="http://schemas.openxmlformats.org/drawingml/2006/main" noGrp="1"/>
          </p:cNvSpPr>
          <p:nvPr/>
        </p:nvSpPr>
        <p:spPr>
          <a:xfrm xmlns:a="http://schemas.openxmlformats.org/drawingml/2006/main">
            <a:off x="1066800" y="2238375"/>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00000"/>
                </a:solidFill>
              </a:defRPr>
            </a:pPr>
            <a:r>
              <a:rPr sz="3600" b="1">
                <a:solidFill>
                  <a:srgbClr val="000000"/>
                </a:solidFill>
              </a:rPr>
              <a:t>187</a:t>
            </a:r>
          </a:p>
        </p:txBody>
      </p:sp>
      <p:sp>
        <p:nvSpPr>
          <p:cNvPr id="5" name="metric-label-single-recovery starts">
            <a:extLst xmlns:a="http://schemas.openxmlformats.org/drawingml/2006/main">
              <a:ext uri="{FF2B5EF4-FFF2-40B4-BE49-F238E27FC236}">
                <a16:creationId xmlns:a16="http://schemas.microsoft.com/office/drawing/2014/main" id="{18BB70A6-F821-4626-B3B4-358C954CCC83}"/>
              </a:ext>
            </a:extLst>
          </p:cNvPr>
          <p:cNvSpPr>
            <a:spLocks xmlns:a="http://schemas.openxmlformats.org/drawingml/2006/main" noGrp="1"/>
          </p:cNvSpPr>
          <p:nvPr/>
        </p:nvSpPr>
        <p:spPr>
          <a:xfrm xmlns:a="http://schemas.openxmlformats.org/drawingml/2006/main">
            <a:off x="1066800" y="2828925"/>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single-recovery starts</a:t>
            </a:r>
          </a:p>
        </p:txBody>
      </p:sp>
      <p:sp>
        <p:nvSpPr>
          <p:cNvPr id="6" name="metric-missed the minor conformer">
            <a:extLst xmlns:a="http://schemas.openxmlformats.org/drawingml/2006/main">
              <a:ext uri="{FF2B5EF4-FFF2-40B4-BE49-F238E27FC236}">
                <a16:creationId xmlns:a16="http://schemas.microsoft.com/office/drawing/2014/main" id="{E2F7DA13-4E2C-4FB3-999E-A607E5DABFCE}"/>
              </a:ext>
            </a:extLst>
          </p:cNvPr>
          <p:cNvSpPr>
            <a:spLocks xmlns:a="http://schemas.openxmlformats.org/drawingml/2006/main" noGrp="1"/>
          </p:cNvSpPr>
          <p:nvPr/>
        </p:nvSpPr>
        <p:spPr>
          <a:xfrm xmlns:a="http://schemas.openxmlformats.org/drawingml/2006/main">
            <a:off x="3762375" y="2238375"/>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C9473A"/>
                </a:solidFill>
              </a:defRPr>
            </a:pPr>
            <a:r>
              <a:rPr sz="3600" b="1">
                <a:solidFill>
                  <a:srgbClr val="C9473A"/>
                </a:solidFill>
              </a:rPr>
              <a:t>142</a:t>
            </a:r>
          </a:p>
        </p:txBody>
      </p:sp>
      <p:sp>
        <p:nvSpPr>
          <p:cNvPr id="7" name="metric-label-missed the minor conformer">
            <a:extLst xmlns:a="http://schemas.openxmlformats.org/drawingml/2006/main">
              <a:ext uri="{FF2B5EF4-FFF2-40B4-BE49-F238E27FC236}">
                <a16:creationId xmlns:a16="http://schemas.microsoft.com/office/drawing/2014/main" id="{637F8374-B7EC-4CC9-8E6E-C0205DDD8251}"/>
              </a:ext>
            </a:extLst>
          </p:cNvPr>
          <p:cNvSpPr>
            <a:spLocks xmlns:a="http://schemas.openxmlformats.org/drawingml/2006/main" noGrp="1"/>
          </p:cNvSpPr>
          <p:nvPr/>
        </p:nvSpPr>
        <p:spPr>
          <a:xfrm xmlns:a="http://schemas.openxmlformats.org/drawingml/2006/main">
            <a:off x="3762375" y="2828925"/>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missed the minor conformer</a:t>
            </a:r>
          </a:p>
        </p:txBody>
      </p:sp>
      <p:sp>
        <p:nvSpPr>
          <p:cNvPr id="8" name="metric-missed the major conformer">
            <a:extLst xmlns:a="http://schemas.openxmlformats.org/drawingml/2006/main">
              <a:ext uri="{FF2B5EF4-FFF2-40B4-BE49-F238E27FC236}">
                <a16:creationId xmlns:a16="http://schemas.microsoft.com/office/drawing/2014/main" id="{102112CC-2492-43F1-8833-D13EDB132FF5}"/>
              </a:ext>
            </a:extLst>
          </p:cNvPr>
          <p:cNvSpPr>
            <a:spLocks xmlns:a="http://schemas.openxmlformats.org/drawingml/2006/main" noGrp="1"/>
          </p:cNvSpPr>
          <p:nvPr/>
        </p:nvSpPr>
        <p:spPr>
          <a:xfrm xmlns:a="http://schemas.openxmlformats.org/drawingml/2006/main">
            <a:off x="6715125" y="2238375"/>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59616D"/>
                </a:solidFill>
              </a:defRPr>
            </a:pPr>
            <a:r>
              <a:rPr sz="3600" b="1">
                <a:solidFill>
                  <a:srgbClr val="59616D"/>
                </a:solidFill>
              </a:rPr>
              <a:t>45</a:t>
            </a:r>
          </a:p>
        </p:txBody>
      </p:sp>
      <p:sp>
        <p:nvSpPr>
          <p:cNvPr id="9" name="metric-label-missed the major conformer">
            <a:extLst xmlns:a="http://schemas.openxmlformats.org/drawingml/2006/main">
              <a:ext uri="{FF2B5EF4-FFF2-40B4-BE49-F238E27FC236}">
                <a16:creationId xmlns:a16="http://schemas.microsoft.com/office/drawing/2014/main" id="{B1F52BF4-5072-40CF-8CE4-33BE9C02B5B2}"/>
              </a:ext>
            </a:extLst>
          </p:cNvPr>
          <p:cNvSpPr>
            <a:spLocks xmlns:a="http://schemas.openxmlformats.org/drawingml/2006/main" noGrp="1"/>
          </p:cNvSpPr>
          <p:nvPr/>
        </p:nvSpPr>
        <p:spPr>
          <a:xfrm xmlns:a="http://schemas.openxmlformats.org/drawingml/2006/main">
            <a:off x="6715125" y="2828925"/>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missed the major conformer</a:t>
            </a:r>
          </a:p>
        </p:txBody>
      </p:sp>
      <p:graphicFrame>
        <p:nvGraphicFramePr>
          <p:cNvPr id="22" name="Chart"/>
          <p:cNvGraphicFramePr/>
          <p:nvPr/>
        </p:nvGraphicFramePr>
        <p:xfrm>
          <a:off xmlns:a="http://schemas.openxmlformats.org/drawingml/2006/main" x="1333500" y="4191000"/>
          <a:ext xmlns:a="http://schemas.openxmlformats.org/drawingml/2006/main" cx="6667500" cy="1428750"/>
        </p:xfrm>
        <a:graphic xmlns:a="http://schemas.openxmlformats.org/drawingml/2006/main">
          <a:graphicData uri="http://schemas.openxmlformats.org/drawingml/2006/chart">
            <c:chart xmlns:r="http://schemas.openxmlformats.org/officeDocument/2006/relationships" xmlns:c="http://schemas.openxmlformats.org/drawingml/2006/chart" r:id="Rfa7eb99fd89d4686"/>
          </a:graphicData>
        </a:graphic>
      </p:graphicFrame>
      <p:sp>
        <p:nvSpPr>
          <p:cNvPr id="11" name="minor-note">
            <a:extLst xmlns:a="http://schemas.openxmlformats.org/drawingml/2006/main">
              <a:ext uri="{FF2B5EF4-FFF2-40B4-BE49-F238E27FC236}">
                <a16:creationId xmlns:a16="http://schemas.microsoft.com/office/drawing/2014/main" id="{5CA8E55A-CD39-4359-A368-2E6D88BC01A9}"/>
              </a:ext>
            </a:extLst>
          </p:cNvPr>
          <p:cNvSpPr>
            <a:spLocks xmlns:a="http://schemas.openxmlformats.org/drawingml/2006/main" noGrp="1"/>
          </p:cNvSpPr>
          <p:nvPr/>
        </p:nvSpPr>
        <p:spPr>
          <a:xfrm xmlns:a="http://schemas.openxmlformats.org/drawingml/2006/main">
            <a:off x="8477250" y="3286125"/>
            <a:ext cx="2714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The asymmetry is occupancy-rank based, not an A/B label artifact.</a:t>
            </a:r>
          </a:p>
        </p:txBody>
      </p:sp>
      <p:sp>
        <p:nvSpPr>
          <p:cNvPr id="12" name="footer">
            <a:extLst xmlns:a="http://schemas.openxmlformats.org/drawingml/2006/main">
              <a:ext uri="{FF2B5EF4-FFF2-40B4-BE49-F238E27FC236}">
                <a16:creationId xmlns:a16="http://schemas.microsoft.com/office/drawing/2014/main" id="{1579D68C-E623-49A3-A4AB-957765A8A1C7}"/>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3</a:t>
            </a:r>
          </a:p>
        </p:txBody>
      </p:sp>
    </p:spTree>
    <p:extLst>
      <p:ext uri="{BB962C8B-B14F-4D97-AF65-F5344CB8AC3E}">
        <p14:creationId xmlns:p14="http://schemas.microsoft.com/office/powerpoint/2010/main" val="18454969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kicker">
            <a:extLst xmlns:a="http://schemas.openxmlformats.org/drawingml/2006/main">
              <a:ext uri="{FF2B5EF4-FFF2-40B4-BE49-F238E27FC236}">
                <a16:creationId xmlns:a16="http://schemas.microsoft.com/office/drawing/2014/main" id="{91B2C17C-6A9B-4E2E-A773-8C6EC613DE28}"/>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EBCE3108-15F4-44B6-8F49-F2B4C2B6E5A0}"/>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The nulls point away from search coverage</a:t>
            </a:r>
          </a:p>
        </p:txBody>
      </p:sp>
      <p:sp>
        <p:nvSpPr>
          <p:cNvPr id="3" name="rule">
            <a:extLst xmlns:a="http://schemas.openxmlformats.org/drawingml/2006/main">
              <a:ext uri="{FF2B5EF4-FFF2-40B4-BE49-F238E27FC236}">
                <a16:creationId xmlns:a16="http://schemas.microsoft.com/office/drawing/2014/main" id="{6DB6A051-32C9-4AC8-BF2B-16A90FCE1F4F}"/>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4" name="bullet-0">
            <a:extLst xmlns:a="http://schemas.openxmlformats.org/drawingml/2006/main">
              <a:ext uri="{FF2B5EF4-FFF2-40B4-BE49-F238E27FC236}">
                <a16:creationId xmlns:a16="http://schemas.microsoft.com/office/drawing/2014/main" id="{EB14F0DF-9E5F-4D49-975E-F5FC4791A368}"/>
              </a:ext>
            </a:extLst>
          </p:cNvPr>
          <p:cNvSpPr>
            <a:spLocks xmlns:a="http://schemas.openxmlformats.org/drawingml/2006/main" noGrp="1"/>
          </p:cNvSpPr>
          <p:nvPr/>
        </p:nvSpPr>
        <p:spPr>
          <a:xfrm xmlns:a="http://schemas.openxmlformats.org/drawingml/2006/main">
            <a:off x="1047750" y="2190750"/>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000000"/>
                </a:solidFill>
              </a:defRPr>
            </a:pPr>
            <a:r>
              <a:rPr sz="1875" b="0">
                <a:solidFill>
                  <a:srgbClr val="000000"/>
                </a:solidFill>
              </a:rPr>
              <a:t>- Occupancy freeze timing did not rescue starved slots</a:t>
            </a:r>
          </a:p>
        </p:txBody>
      </p:sp>
      <p:sp>
        <p:nvSpPr>
          <p:cNvPr id="5" name="bullet-1">
            <a:extLst xmlns:a="http://schemas.openxmlformats.org/drawingml/2006/main">
              <a:ext uri="{FF2B5EF4-FFF2-40B4-BE49-F238E27FC236}">
                <a16:creationId xmlns:a16="http://schemas.microsoft.com/office/drawing/2014/main" id="{53EF3A9F-D6E5-47FF-83FF-3705CC65983F}"/>
              </a:ext>
            </a:extLst>
          </p:cNvPr>
          <p:cNvSpPr>
            <a:spLocks xmlns:a="http://schemas.openxmlformats.org/drawingml/2006/main" noGrp="1"/>
          </p:cNvSpPr>
          <p:nvPr/>
        </p:nvSpPr>
        <p:spPr>
          <a:xfrm xmlns:a="http://schemas.openxmlformats.org/drawingml/2006/main">
            <a:off x="1047750" y="2743200"/>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000000"/>
                </a:solidFill>
              </a:defRPr>
            </a:pPr>
            <a:r>
              <a:rPr sz="1875" b="0">
                <a:solidFill>
                  <a:srgbClr val="000000"/>
                </a:solidFill>
              </a:rPr>
              <a:t>- Initialization stratification did not keep minor-seeded slots there</a:t>
            </a:r>
          </a:p>
        </p:txBody>
      </p:sp>
      <p:sp>
        <p:nvSpPr>
          <p:cNvPr id="6" name="bullet-2">
            <a:extLst xmlns:a="http://schemas.openxmlformats.org/drawingml/2006/main">
              <a:ext uri="{FF2B5EF4-FFF2-40B4-BE49-F238E27FC236}">
                <a16:creationId xmlns:a16="http://schemas.microsoft.com/office/drawing/2014/main" id="{4CA45223-D466-405A-903D-A4A2EF7A1FF6}"/>
              </a:ext>
            </a:extLst>
          </p:cNvPr>
          <p:cNvSpPr>
            <a:spLocks xmlns:a="http://schemas.openxmlformats.org/drawingml/2006/main" noGrp="1"/>
          </p:cNvSpPr>
          <p:nvPr/>
        </p:nvSpPr>
        <p:spPr>
          <a:xfrm xmlns:a="http://schemas.openxmlformats.org/drawingml/2006/main">
            <a:off x="1047750" y="3295650"/>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000000"/>
                </a:solidFill>
              </a:defRPr>
            </a:pPr>
            <a:r>
              <a:rPr sz="1875" b="0">
                <a:solidFill>
                  <a:srgbClr val="000000"/>
                </a:solidFill>
              </a:rPr>
              <a:t>- Separation, torsion reachability, and mask geometry did not explain the tail</a:t>
            </a:r>
          </a:p>
        </p:txBody>
      </p:sp>
      <p:sp>
        <p:nvSpPr>
          <p:cNvPr id="7" name="bullet-3">
            <a:extLst xmlns:a="http://schemas.openxmlformats.org/drawingml/2006/main">
              <a:ext uri="{FF2B5EF4-FFF2-40B4-BE49-F238E27FC236}">
                <a16:creationId xmlns:a16="http://schemas.microsoft.com/office/drawing/2014/main" id="{87F25204-5C64-42A6-9AD5-5CFD4802313A}"/>
              </a:ext>
            </a:extLst>
          </p:cNvPr>
          <p:cNvSpPr>
            <a:spLocks xmlns:a="http://schemas.openxmlformats.org/drawingml/2006/main" noGrp="1"/>
          </p:cNvSpPr>
          <p:nvPr/>
        </p:nvSpPr>
        <p:spPr>
          <a:xfrm xmlns:a="http://schemas.openxmlformats.org/drawingml/2006/main">
            <a:off x="1047750" y="3848100"/>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000000"/>
                </a:solidFill>
              </a:defRPr>
            </a:pPr>
            <a:r>
              <a:rPr sz="1875" b="0">
                <a:solidFill>
                  <a:srgbClr val="000000"/>
                </a:solidFill>
              </a:rPr>
              <a:t>- Signal weighting changed the score and hurt recovery</a:t>
            </a:r>
          </a:p>
        </p:txBody>
      </p:sp>
      <p:sp>
        <p:nvSpPr>
          <p:cNvPr id="8" name="nulls-panel">
            <a:extLst xmlns:a="http://schemas.openxmlformats.org/drawingml/2006/main">
              <a:ext uri="{FF2B5EF4-FFF2-40B4-BE49-F238E27FC236}">
                <a16:creationId xmlns:a16="http://schemas.microsoft.com/office/drawing/2014/main" id="{36D4B084-A678-422E-9347-C234D0971162}"/>
              </a:ext>
            </a:extLst>
          </p:cNvPr>
          <p:cNvSpPr>
            <a:spLocks xmlns:a="http://schemas.openxmlformats.org/drawingml/2006/main" noGrp="1"/>
          </p:cNvSpPr>
          <p:nvPr/>
        </p:nvSpPr>
        <p:spPr>
          <a:xfrm xmlns:a="http://schemas.openxmlformats.org/drawingml/2006/main">
            <a:off x="8858250" y="2171700"/>
            <a:ext cx="2333625" cy="24574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9" name="nulls-panel-title">
            <a:extLst xmlns:a="http://schemas.openxmlformats.org/drawingml/2006/main">
              <a:ext uri="{FF2B5EF4-FFF2-40B4-BE49-F238E27FC236}">
                <a16:creationId xmlns:a16="http://schemas.microsoft.com/office/drawing/2014/main" id="{D8E48FAE-C6F8-45DE-BF44-1CC976030321}"/>
              </a:ext>
            </a:extLst>
          </p:cNvPr>
          <p:cNvSpPr>
            <a:spLocks xmlns:a="http://schemas.openxmlformats.org/drawingml/2006/main" noGrp="1"/>
          </p:cNvSpPr>
          <p:nvPr/>
        </p:nvSpPr>
        <p:spPr>
          <a:xfrm xmlns:a="http://schemas.openxmlformats.org/drawingml/2006/main">
            <a:off x="9096375" y="2428875"/>
            <a:ext cx="1857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Pattern</a:t>
            </a:r>
          </a:p>
        </p:txBody>
      </p:sp>
      <p:sp>
        <p:nvSpPr>
          <p:cNvPr id="10" name="nulls-panel-copy">
            <a:extLst xmlns:a="http://schemas.openxmlformats.org/drawingml/2006/main">
              <a:ext uri="{FF2B5EF4-FFF2-40B4-BE49-F238E27FC236}">
                <a16:creationId xmlns:a16="http://schemas.microsoft.com/office/drawing/2014/main" id="{362633BE-47C2-4D96-8A47-68A4CC64610D}"/>
              </a:ext>
            </a:extLst>
          </p:cNvPr>
          <p:cNvSpPr>
            <a:spLocks xmlns:a="http://schemas.openxmlformats.org/drawingml/2006/main" noGrp="1"/>
          </p:cNvSpPr>
          <p:nvPr/>
        </p:nvSpPr>
        <p:spPr>
          <a:xfrm xmlns:a="http://schemas.openxmlformats.org/drawingml/2006/main">
            <a:off x="9096375" y="2971800"/>
            <a:ext cx="1809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9616D"/>
                </a:solidFill>
              </a:defRPr>
            </a:pPr>
            <a:r>
              <a:rPr sz="1575" b="0">
                <a:solidFill>
                  <a:srgbClr val="59616D"/>
                </a:solidFill>
              </a:rPr>
              <a:t>The failed arms mostly changed scoring or local search. None cleanly tested escape from a rewarded partial fit.</a:t>
            </a:r>
          </a:p>
        </p:txBody>
      </p:sp>
      <p:sp>
        <p:nvSpPr>
          <p:cNvPr id="11" name="footer">
            <a:extLst xmlns:a="http://schemas.openxmlformats.org/drawingml/2006/main">
              <a:ext uri="{FF2B5EF4-FFF2-40B4-BE49-F238E27FC236}">
                <a16:creationId xmlns:a16="http://schemas.microsoft.com/office/drawing/2014/main" id="{B9DEB227-462C-433F-A0FF-E6F9C44E65BA}"/>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4</a:t>
            </a:r>
          </a:p>
        </p:txBody>
      </p:sp>
    </p:spTree>
    <p:extLst>
      <p:ext uri="{BB962C8B-B14F-4D97-AF65-F5344CB8AC3E}">
        <p14:creationId xmlns:p14="http://schemas.microsoft.com/office/powerpoint/2010/main" val="2235845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751C8943-2D85-4909-AF3F-11BE3DA8BC0E}"/>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1F533B9D-977E-41B9-AFC1-0F9CA5DF8BBF}"/>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The residual does not contain a conformer-shaped hole</a:t>
            </a:r>
          </a:p>
        </p:txBody>
      </p:sp>
      <p:sp>
        <p:nvSpPr>
          <p:cNvPr id="3" name="rule">
            <a:extLst xmlns:a="http://schemas.openxmlformats.org/drawingml/2006/main">
              <a:ext uri="{FF2B5EF4-FFF2-40B4-BE49-F238E27FC236}">
                <a16:creationId xmlns:a16="http://schemas.microsoft.com/office/drawing/2014/main" id="{94F753FA-6FE0-4D27-B4C0-EBB4364A4847}"/>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4" name="metric-deposited missed-conformer ceiling">
            <a:extLst xmlns:a="http://schemas.openxmlformats.org/drawingml/2006/main">
              <a:ext uri="{FF2B5EF4-FFF2-40B4-BE49-F238E27FC236}">
                <a16:creationId xmlns:a16="http://schemas.microsoft.com/office/drawing/2014/main" id="{E288DBB3-72D8-4785-8030-8B727FA89E45}"/>
              </a:ext>
            </a:extLst>
          </p:cNvPr>
          <p:cNvSpPr>
            <a:spLocks xmlns:a="http://schemas.openxmlformats.org/drawingml/2006/main" noGrp="1"/>
          </p:cNvSpPr>
          <p:nvPr/>
        </p:nvSpPr>
        <p:spPr>
          <a:xfrm xmlns:a="http://schemas.openxmlformats.org/drawingml/2006/main">
            <a:off x="1047750" y="21907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C9473A"/>
                </a:solidFill>
              </a:defRPr>
            </a:pPr>
            <a:r>
              <a:rPr sz="3600" b="1">
                <a:solidFill>
                  <a:srgbClr val="C9473A"/>
                </a:solidFill>
              </a:rPr>
              <a:t>r = 0.340</a:t>
            </a:r>
          </a:p>
        </p:txBody>
      </p:sp>
      <p:sp>
        <p:nvSpPr>
          <p:cNvPr id="5" name="metric-label-deposited missed-conformer ceiling">
            <a:extLst xmlns:a="http://schemas.openxmlformats.org/drawingml/2006/main">
              <a:ext uri="{FF2B5EF4-FFF2-40B4-BE49-F238E27FC236}">
                <a16:creationId xmlns:a16="http://schemas.microsoft.com/office/drawing/2014/main" id="{20D15CFC-1F92-4229-955A-851FB0BBC024}"/>
              </a:ext>
            </a:extLst>
          </p:cNvPr>
          <p:cNvSpPr>
            <a:spLocks xmlns:a="http://schemas.openxmlformats.org/drawingml/2006/main" noGrp="1"/>
          </p:cNvSpPr>
          <p:nvPr/>
        </p:nvSpPr>
        <p:spPr>
          <a:xfrm xmlns:a="http://schemas.openxmlformats.org/drawingml/2006/main">
            <a:off x="1047750" y="278130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deposited missed-conformer ceiling</a:t>
            </a:r>
          </a:p>
        </p:txBody>
      </p:sp>
      <p:sp>
        <p:nvSpPr>
          <p:cNvPr id="6" name="metric-least-squares fitted occupancy">
            <a:extLst xmlns:a="http://schemas.openxmlformats.org/drawingml/2006/main">
              <a:ext uri="{FF2B5EF4-FFF2-40B4-BE49-F238E27FC236}">
                <a16:creationId xmlns:a16="http://schemas.microsoft.com/office/drawing/2014/main" id="{E7A4B942-66DC-4E2C-9A58-F3365BF086EC}"/>
              </a:ext>
            </a:extLst>
          </p:cNvPr>
          <p:cNvSpPr>
            <a:spLocks xmlns:a="http://schemas.openxmlformats.org/drawingml/2006/main" noGrp="1"/>
          </p:cNvSpPr>
          <p:nvPr/>
        </p:nvSpPr>
        <p:spPr>
          <a:xfrm xmlns:a="http://schemas.openxmlformats.org/drawingml/2006/main">
            <a:off x="4905375" y="21907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C9473A"/>
                </a:solidFill>
              </a:defRPr>
            </a:pPr>
            <a:r>
              <a:rPr sz="3600" b="1">
                <a:solidFill>
                  <a:srgbClr val="C9473A"/>
                </a:solidFill>
              </a:rPr>
              <a:t>0.070</a:t>
            </a:r>
          </a:p>
        </p:txBody>
      </p:sp>
      <p:sp>
        <p:nvSpPr>
          <p:cNvPr id="7" name="metric-label-least-squares fitted occupancy">
            <a:extLst xmlns:a="http://schemas.openxmlformats.org/drawingml/2006/main">
              <a:ext uri="{FF2B5EF4-FFF2-40B4-BE49-F238E27FC236}">
                <a16:creationId xmlns:a16="http://schemas.microsoft.com/office/drawing/2014/main" id="{4EB0C779-93BE-405B-B663-A4858C20E1B4}"/>
              </a:ext>
            </a:extLst>
          </p:cNvPr>
          <p:cNvSpPr>
            <a:spLocks xmlns:a="http://schemas.openxmlformats.org/drawingml/2006/main" noGrp="1"/>
          </p:cNvSpPr>
          <p:nvPr/>
        </p:nvSpPr>
        <p:spPr>
          <a:xfrm xmlns:a="http://schemas.openxmlformats.org/drawingml/2006/main">
            <a:off x="4905375" y="278130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least-squares fitted occupancy</a:t>
            </a:r>
          </a:p>
        </p:txBody>
      </p:sp>
      <p:sp>
        <p:nvSpPr>
          <p:cNvPr id="8" name="metric-median density support at misplaced slots">
            <a:extLst xmlns:a="http://schemas.openxmlformats.org/drawingml/2006/main">
              <a:ext uri="{FF2B5EF4-FFF2-40B4-BE49-F238E27FC236}">
                <a16:creationId xmlns:a16="http://schemas.microsoft.com/office/drawing/2014/main" id="{872FBC43-F437-4481-8D49-44B95667C5DE}"/>
              </a:ext>
            </a:extLst>
          </p:cNvPr>
          <p:cNvSpPr>
            <a:spLocks xmlns:a="http://schemas.openxmlformats.org/drawingml/2006/main" noGrp="1"/>
          </p:cNvSpPr>
          <p:nvPr/>
        </p:nvSpPr>
        <p:spPr>
          <a:xfrm xmlns:a="http://schemas.openxmlformats.org/drawingml/2006/main">
            <a:off x="8572500" y="21907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3D8DFF"/>
                </a:solidFill>
              </a:defRPr>
            </a:pPr>
            <a:r>
              <a:rPr sz="3600" b="1">
                <a:solidFill>
                  <a:srgbClr val="3D8DFF"/>
                </a:solidFill>
              </a:rPr>
              <a:t>66%</a:t>
            </a:r>
          </a:p>
        </p:txBody>
      </p:sp>
      <p:sp>
        <p:nvSpPr>
          <p:cNvPr id="9" name="metric-label-median density support at misplaced slots">
            <a:extLst xmlns:a="http://schemas.openxmlformats.org/drawingml/2006/main">
              <a:ext uri="{FF2B5EF4-FFF2-40B4-BE49-F238E27FC236}">
                <a16:creationId xmlns:a16="http://schemas.microsoft.com/office/drawing/2014/main" id="{64E5C128-0B0E-453F-A1C5-12BD6F0C8299}"/>
              </a:ext>
            </a:extLst>
          </p:cNvPr>
          <p:cNvSpPr>
            <a:spLocks xmlns:a="http://schemas.openxmlformats.org/drawingml/2006/main" noGrp="1"/>
          </p:cNvSpPr>
          <p:nvPr/>
        </p:nvSpPr>
        <p:spPr>
          <a:xfrm xmlns:a="http://schemas.openxmlformats.org/drawingml/2006/main">
            <a:off x="8572500" y="278130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median density support at misplaced slots</a:t>
            </a:r>
          </a:p>
        </p:txBody>
      </p:sp>
      <p:sp>
        <p:nvSpPr>
          <p:cNvPr id="10" name="bullet-0">
            <a:extLst xmlns:a="http://schemas.openxmlformats.org/drawingml/2006/main">
              <a:ext uri="{FF2B5EF4-FFF2-40B4-BE49-F238E27FC236}">
                <a16:creationId xmlns:a16="http://schemas.microsoft.com/office/drawing/2014/main" id="{9576E16F-7489-47F7-B48C-BB09AAA6E44F}"/>
              </a:ext>
            </a:extLst>
          </p:cNvPr>
          <p:cNvSpPr>
            <a:spLocks xmlns:a="http://schemas.openxmlformats.org/drawingml/2006/main" noGrp="1"/>
          </p:cNvSpPr>
          <p:nvPr/>
        </p:nvSpPr>
        <p:spPr>
          <a:xfrm xmlns:a="http://schemas.openxmlformats.org/drawingml/2006/main">
            <a:off x="1238250" y="4238625"/>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If the conformer were absent, the residual should call for its deposited occupancy</a:t>
            </a:r>
          </a:p>
        </p:txBody>
      </p:sp>
      <p:sp>
        <p:nvSpPr>
          <p:cNvPr id="11" name="bullet-1">
            <a:extLst xmlns:a="http://schemas.openxmlformats.org/drawingml/2006/main">
              <a:ext uri="{FF2B5EF4-FFF2-40B4-BE49-F238E27FC236}">
                <a16:creationId xmlns:a16="http://schemas.microsoft.com/office/drawing/2014/main" id="{F709F62F-2F21-435C-97E4-06F3D0B7B9DC}"/>
              </a:ext>
            </a:extLst>
          </p:cNvPr>
          <p:cNvSpPr>
            <a:spLocks xmlns:a="http://schemas.openxmlformats.org/drawingml/2006/main" noGrp="1"/>
          </p:cNvSpPr>
          <p:nvPr/>
        </p:nvSpPr>
        <p:spPr>
          <a:xfrm xmlns:a="http://schemas.openxmlformats.org/drawingml/2006/main">
            <a:off x="1238250" y="4695825"/>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Instead, the residual asks for only a small leftover component</a:t>
            </a:r>
          </a:p>
        </p:txBody>
      </p:sp>
      <p:sp>
        <p:nvSpPr>
          <p:cNvPr id="12" name="bullet-2">
            <a:extLst xmlns:a="http://schemas.openxmlformats.org/drawingml/2006/main">
              <a:ext uri="{FF2B5EF4-FFF2-40B4-BE49-F238E27FC236}">
                <a16:creationId xmlns:a16="http://schemas.microsoft.com/office/drawing/2014/main" id="{35D46569-D1FB-4EF9-890D-E406D9D1E2E5}"/>
              </a:ext>
            </a:extLst>
          </p:cNvPr>
          <p:cNvSpPr>
            <a:spLocks xmlns:a="http://schemas.openxmlformats.org/drawingml/2006/main" noGrp="1"/>
          </p:cNvSpPr>
          <p:nvPr/>
        </p:nvSpPr>
        <p:spPr>
          <a:xfrm xmlns:a="http://schemas.openxmlformats.org/drawingml/2006/main">
            <a:off x="1238250" y="5153025"/>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Conclusion: insertion is closed; the mass is already partly absorbed</a:t>
            </a:r>
          </a:p>
        </p:txBody>
      </p:sp>
      <p:sp>
        <p:nvSpPr>
          <p:cNvPr id="13" name="footer">
            <a:extLst xmlns:a="http://schemas.openxmlformats.org/drawingml/2006/main">
              <a:ext uri="{FF2B5EF4-FFF2-40B4-BE49-F238E27FC236}">
                <a16:creationId xmlns:a16="http://schemas.microsoft.com/office/drawing/2014/main" id="{6967B0E3-5560-43E6-BA90-8AF0D205F1EE}"/>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5</a:t>
            </a:r>
          </a:p>
        </p:txBody>
      </p:sp>
    </p:spTree>
    <p:extLst>
      <p:ext uri="{BB962C8B-B14F-4D97-AF65-F5344CB8AC3E}">
        <p14:creationId xmlns:p14="http://schemas.microsoft.com/office/powerpoint/2010/main" val="1250245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icker">
            <a:extLst xmlns:a="http://schemas.openxmlformats.org/drawingml/2006/main">
              <a:ext uri="{FF2B5EF4-FFF2-40B4-BE49-F238E27FC236}">
                <a16:creationId xmlns:a16="http://schemas.microsoft.com/office/drawing/2014/main" id="{8C0BA868-A1C7-4F3D-8C5C-3CCCA8268E7E}"/>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47D1D8FA-58A8-48A6-B539-D67B7E2E7E09}"/>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Some of the tail is information-limited</a:t>
            </a:r>
          </a:p>
        </p:txBody>
      </p:sp>
      <p:sp>
        <p:nvSpPr>
          <p:cNvPr id="3" name="rule">
            <a:extLst xmlns:a="http://schemas.openxmlformats.org/drawingml/2006/main">
              <a:ext uri="{FF2B5EF4-FFF2-40B4-BE49-F238E27FC236}">
                <a16:creationId xmlns:a16="http://schemas.microsoft.com/office/drawing/2014/main" id="{9AD29380-25BB-4AF3-8182-48C2712DC8D5}"/>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graphicFrame>
        <p:nvGraphicFramePr>
          <p:cNvPr id="11" name="Chart"/>
          <p:cNvGraphicFramePr/>
          <p:nvPr/>
        </p:nvGraphicFramePr>
        <p:xfrm>
          <a:off xmlns:a="http://schemas.openxmlformats.org/drawingml/2006/main" x="1000125" y="2238375"/>
          <a:ext xmlns:a="http://schemas.openxmlformats.org/drawingml/2006/main" cx="6096000" cy="2857500"/>
        </p:xfrm>
        <a:graphic xmlns:a="http://schemas.openxmlformats.org/drawingml/2006/main">
          <a:graphicData uri="http://schemas.openxmlformats.org/drawingml/2006/chart">
            <c:chart xmlns:r="http://schemas.openxmlformats.org/officeDocument/2006/relationships" xmlns:c="http://schemas.openxmlformats.org/drawingml/2006/chart" r:id="R0e52cee473b2432d"/>
          </a:graphicData>
        </a:graphic>
      </p:graphicFrame>
      <p:sp>
        <p:nvSpPr>
          <p:cNvPr id="5" name="limits-callout">
            <a:extLst xmlns:a="http://schemas.openxmlformats.org/drawingml/2006/main">
              <a:ext uri="{FF2B5EF4-FFF2-40B4-BE49-F238E27FC236}">
                <a16:creationId xmlns:a16="http://schemas.microsoft.com/office/drawing/2014/main" id="{DCF66CD5-3027-4B9E-ADC2-B0B12FB8DDFD}"/>
              </a:ext>
            </a:extLst>
          </p:cNvPr>
          <p:cNvSpPr>
            <a:spLocks xmlns:a="http://schemas.openxmlformats.org/drawingml/2006/main" noGrp="1"/>
          </p:cNvSpPr>
          <p:nvPr/>
        </p:nvSpPr>
        <p:spPr>
          <a:xfrm xmlns:a="http://schemas.openxmlformats.org/drawingml/2006/main">
            <a:off x="7762875" y="247650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0000"/>
                </a:solidFill>
              </a:defRPr>
            </a:pPr>
            <a:r>
              <a:rPr sz="2100" b="1">
                <a:solidFill>
                  <a:srgbClr val="000000"/>
                </a:solidFill>
              </a:rPr>
              <a:t>5Z8H + 2VFP account for 70 of 142 missed-minor failures, where two-state support is barely resolvable.</a:t>
            </a:r>
          </a:p>
        </p:txBody>
      </p:sp>
      <p:sp>
        <p:nvSpPr>
          <p:cNvPr id="6" name="limits-sub">
            <a:extLst xmlns:a="http://schemas.openxmlformats.org/drawingml/2006/main">
              <a:ext uri="{FF2B5EF4-FFF2-40B4-BE49-F238E27FC236}">
                <a16:creationId xmlns:a16="http://schemas.microsoft.com/office/drawing/2014/main" id="{F64348C6-8980-4D40-A492-554A4DA11F9C}"/>
              </a:ext>
            </a:extLst>
          </p:cNvPr>
          <p:cNvSpPr>
            <a:spLocks xmlns:a="http://schemas.openxmlformats.org/drawingml/2006/main" noGrp="1"/>
          </p:cNvSpPr>
          <p:nvPr/>
        </p:nvSpPr>
        <p:spPr>
          <a:xfrm xmlns:a="http://schemas.openxmlformats.org/drawingml/2006/main">
            <a:off x="7762875" y="43338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9616D"/>
                </a:solidFill>
              </a:defRPr>
            </a:pPr>
            <a:r>
              <a:rPr sz="1575" b="0">
                <a:solidFill>
                  <a:srgbClr val="59616D"/>
                </a:solidFill>
              </a:rPr>
              <a:t>That caps the upside of any optimizer-only fix.</a:t>
            </a:r>
          </a:p>
        </p:txBody>
      </p:sp>
      <p:sp>
        <p:nvSpPr>
          <p:cNvPr id="7" name="footer">
            <a:extLst xmlns:a="http://schemas.openxmlformats.org/drawingml/2006/main">
              <a:ext uri="{FF2B5EF4-FFF2-40B4-BE49-F238E27FC236}">
                <a16:creationId xmlns:a16="http://schemas.microsoft.com/office/drawing/2014/main" id="{8C1EA95C-925F-43A1-8F2C-3463483301AB}"/>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6</a:t>
            </a:r>
          </a:p>
        </p:txBody>
      </p:sp>
    </p:spTree>
    <p:extLst>
      <p:ext uri="{BB962C8B-B14F-4D97-AF65-F5344CB8AC3E}">
        <p14:creationId xmlns:p14="http://schemas.microsoft.com/office/powerpoint/2010/main" val="1368834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31088BF8-2129-4237-9A48-93DFDAE4CE08}"/>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FD1E464E-538C-40A5-8F67-5BEBB830AC12}"/>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Misplaced should be movable, but only by crossing a barrier</a:t>
            </a:r>
          </a:p>
        </p:txBody>
      </p:sp>
      <p:sp>
        <p:nvSpPr>
          <p:cNvPr id="3" name="rule">
            <a:extLst xmlns:a="http://schemas.openxmlformats.org/drawingml/2006/main">
              <a:ext uri="{FF2B5EF4-FFF2-40B4-BE49-F238E27FC236}">
                <a16:creationId xmlns:a16="http://schemas.microsoft.com/office/drawing/2014/main" id="{5B983FAE-8D7F-46AD-B782-E46375B70911}"/>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4" name="energy-axis">
            <a:extLst xmlns:a="http://schemas.openxmlformats.org/drawingml/2006/main">
              <a:ext uri="{FF2B5EF4-FFF2-40B4-BE49-F238E27FC236}">
                <a16:creationId xmlns:a16="http://schemas.microsoft.com/office/drawing/2014/main" id="{8AE9839B-CD39-4269-8E58-35438431DBFF}"/>
              </a:ext>
            </a:extLst>
          </p:cNvPr>
          <p:cNvSpPr>
            <a:spLocks xmlns:a="http://schemas.openxmlformats.org/drawingml/2006/main" noGrp="1"/>
          </p:cNvSpPr>
          <p:nvPr/>
        </p:nvSpPr>
        <p:spPr>
          <a:xfrm xmlns:a="http://schemas.openxmlformats.org/drawingml/2006/main">
            <a:off x="1333500" y="5334000"/>
            <a:ext cx="8382000" cy="190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5" name="local-well">
            <a:extLst xmlns:a="http://schemas.openxmlformats.org/drawingml/2006/main">
              <a:ext uri="{FF2B5EF4-FFF2-40B4-BE49-F238E27FC236}">
                <a16:creationId xmlns:a16="http://schemas.microsoft.com/office/drawing/2014/main" id="{7B09ACCD-DDF7-441E-8DAC-5734EFED3958}"/>
              </a:ext>
            </a:extLst>
          </p:cNvPr>
          <p:cNvSpPr>
            <a:spLocks xmlns:a="http://schemas.openxmlformats.org/drawingml/2006/main" noGrp="1"/>
          </p:cNvSpPr>
          <p:nvPr/>
        </p:nvSpPr>
        <p:spPr>
          <a:xfrm xmlns:a="http://schemas.openxmlformats.org/drawingml/2006/main">
            <a:off x="2143125" y="3876675"/>
            <a:ext cx="2190750" cy="1047750"/>
          </a:xfrm>
          <a:prstGeom xmlns:a="http://schemas.openxmlformats.org/drawingml/2006/main" prst="rect">
            <a:avLst/>
          </a:prstGeom>
          <a:solidFill xmlns:a="http://schemas.openxmlformats.org/drawingml/2006/main">
            <a:srgbClr val="D0EDFA"/>
          </a:solidFill>
          <a:ln xmlns:a="http://schemas.openxmlformats.org/drawingml/2006/main" w="9525">
            <a:solidFill>
              <a:srgbClr val="D0EDFA"/>
            </a:solidFill>
            <a:prstDash val="solid"/>
          </a:ln>
        </p:spPr>
      </p:sp>
      <p:sp>
        <p:nvSpPr>
          <p:cNvPr id="6" name="barrier">
            <a:extLst xmlns:a="http://schemas.openxmlformats.org/drawingml/2006/main">
              <a:ext uri="{FF2B5EF4-FFF2-40B4-BE49-F238E27FC236}">
                <a16:creationId xmlns:a16="http://schemas.microsoft.com/office/drawing/2014/main" id="{3F08CCAF-ED35-45ED-B0A2-9359E49A7EB3}"/>
              </a:ext>
            </a:extLst>
          </p:cNvPr>
          <p:cNvSpPr>
            <a:spLocks xmlns:a="http://schemas.openxmlformats.org/drawingml/2006/main" noGrp="1"/>
          </p:cNvSpPr>
          <p:nvPr/>
        </p:nvSpPr>
        <p:spPr>
          <a:xfrm xmlns:a="http://schemas.openxmlformats.org/drawingml/2006/main">
            <a:off x="4953000" y="2476500"/>
            <a:ext cx="1762125" cy="2428875"/>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sp>
      <p:sp>
        <p:nvSpPr>
          <p:cNvPr id="7" name="true-well">
            <a:extLst xmlns:a="http://schemas.openxmlformats.org/drawingml/2006/main">
              <a:ext uri="{FF2B5EF4-FFF2-40B4-BE49-F238E27FC236}">
                <a16:creationId xmlns:a16="http://schemas.microsoft.com/office/drawing/2014/main" id="{19934335-8100-4EE9-988E-F4AC012667C6}"/>
              </a:ext>
            </a:extLst>
          </p:cNvPr>
          <p:cNvSpPr>
            <a:spLocks xmlns:a="http://schemas.openxmlformats.org/drawingml/2006/main" noGrp="1"/>
          </p:cNvSpPr>
          <p:nvPr/>
        </p:nvSpPr>
        <p:spPr>
          <a:xfrm xmlns:a="http://schemas.openxmlformats.org/drawingml/2006/main">
            <a:off x="7286625" y="3476625"/>
            <a:ext cx="2190750" cy="1428750"/>
          </a:xfrm>
          <a:prstGeom xmlns:a="http://schemas.openxmlformats.org/drawingml/2006/main" prst="rect">
            <a:avLst/>
          </a:prstGeom>
          <a:solidFill xmlns:a="http://schemas.openxmlformats.org/drawingml/2006/main">
            <a:srgbClr val="D6EFE5"/>
          </a:solidFill>
          <a:ln xmlns:a="http://schemas.openxmlformats.org/drawingml/2006/main" w="9525">
            <a:solidFill>
              <a:srgbClr val="D6EFE5"/>
            </a:solidFill>
            <a:prstDash val="solid"/>
          </a:ln>
        </p:spPr>
      </p:sp>
      <p:sp>
        <p:nvSpPr>
          <p:cNvPr id="8" name="local">
            <a:extLst xmlns:a="http://schemas.openxmlformats.org/drawingml/2006/main">
              <a:ext uri="{FF2B5EF4-FFF2-40B4-BE49-F238E27FC236}">
                <a16:creationId xmlns:a16="http://schemas.microsoft.com/office/drawing/2014/main" id="{6FF52456-93E1-4BCE-B310-57C827238E1B}"/>
              </a:ext>
            </a:extLst>
          </p:cNvPr>
          <p:cNvSpPr>
            <a:spLocks xmlns:a="http://schemas.openxmlformats.org/drawingml/2006/main" noGrp="1"/>
          </p:cNvSpPr>
          <p:nvPr/>
        </p:nvSpPr>
        <p:spPr>
          <a:xfrm xmlns:a="http://schemas.openxmlformats.org/drawingml/2006/main">
            <a:off x="2266950" y="409575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00000"/>
                </a:solidFill>
              </a:defRPr>
            </a:pPr>
            <a:r>
              <a:rPr sz="1575" b="1">
                <a:solidFill>
                  <a:srgbClr val="000000"/>
                </a:solidFill>
              </a:rPr>
              <a:t>rewarded partial fit</a:t>
            </a:r>
          </a:p>
          <a:p xmlns:a="http://schemas.openxmlformats.org/drawingml/2006/main">
            <a:pPr algn="ctr">
              <a:defRPr sz="1575" b="1">
                <a:solidFill>
                  <a:srgbClr val="000000"/>
                </a:solidFill>
              </a:defRPr>
            </a:pPr>
            <a:r>
              <a:rPr sz="1575" b="1">
                <a:solidFill>
                  <a:srgbClr val="000000"/>
                </a:solidFill>
              </a:rPr>
              <a:t>66% density support</a:t>
            </a:r>
          </a:p>
        </p:txBody>
      </p:sp>
      <p:sp>
        <p:nvSpPr>
          <p:cNvPr id="9" name="bar">
            <a:extLst xmlns:a="http://schemas.openxmlformats.org/drawingml/2006/main">
              <a:ext uri="{FF2B5EF4-FFF2-40B4-BE49-F238E27FC236}">
                <a16:creationId xmlns:a16="http://schemas.microsoft.com/office/drawing/2014/main" id="{04FD900A-B3E6-4175-8394-EBD2018F2826}"/>
              </a:ext>
            </a:extLst>
          </p:cNvPr>
          <p:cNvSpPr>
            <a:spLocks xmlns:a="http://schemas.openxmlformats.org/drawingml/2006/main" noGrp="1"/>
          </p:cNvSpPr>
          <p:nvPr/>
        </p:nvSpPr>
        <p:spPr>
          <a:xfrm xmlns:a="http://schemas.openxmlformats.org/drawingml/2006/main">
            <a:off x="5219700" y="3286125"/>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59616D"/>
                </a:solidFill>
              </a:defRPr>
            </a:pPr>
            <a:r>
              <a:rPr sz="1800" b="1">
                <a:solidFill>
                  <a:srgbClr val="59616D"/>
                </a:solidFill>
              </a:rPr>
              <a:t>barrier</a:t>
            </a:r>
          </a:p>
        </p:txBody>
      </p:sp>
      <p:sp>
        <p:nvSpPr>
          <p:cNvPr id="10" name="true">
            <a:extLst xmlns:a="http://schemas.openxmlformats.org/drawingml/2006/main">
              <a:ext uri="{FF2B5EF4-FFF2-40B4-BE49-F238E27FC236}">
                <a16:creationId xmlns:a16="http://schemas.microsoft.com/office/drawing/2014/main" id="{11CD79EB-0FA9-4D11-B05C-2380E52BF048}"/>
              </a:ext>
            </a:extLst>
          </p:cNvPr>
          <p:cNvSpPr>
            <a:spLocks xmlns:a="http://schemas.openxmlformats.org/drawingml/2006/main" noGrp="1"/>
          </p:cNvSpPr>
          <p:nvPr/>
        </p:nvSpPr>
        <p:spPr>
          <a:xfrm xmlns:a="http://schemas.openxmlformats.org/drawingml/2006/main">
            <a:off x="7448550" y="3924300"/>
            <a:ext cx="1857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00000"/>
                </a:solidFill>
              </a:defRPr>
            </a:pPr>
            <a:r>
              <a:rPr sz="1575" b="1">
                <a:solidFill>
                  <a:srgbClr val="000000"/>
                </a:solidFill>
              </a:rPr>
              <a:t>correct conformer</a:t>
            </a:r>
          </a:p>
          <a:p xmlns:a="http://schemas.openxmlformats.org/drawingml/2006/main">
            <a:pPr algn="ctr">
              <a:defRPr sz="1575" b="1">
                <a:solidFill>
                  <a:srgbClr val="000000"/>
                </a:solidFill>
              </a:defRPr>
            </a:pPr>
            <a:r>
              <a:rPr sz="1575" b="1">
                <a:solidFill>
                  <a:srgbClr val="000000"/>
                </a:solidFill>
              </a:rPr>
              <a:t>better global fit</a:t>
            </a:r>
          </a:p>
        </p:txBody>
      </p:sp>
      <p:sp>
        <p:nvSpPr>
          <p:cNvPr id="11" name="gd">
            <a:extLst xmlns:a="http://schemas.openxmlformats.org/drawingml/2006/main">
              <a:ext uri="{FF2B5EF4-FFF2-40B4-BE49-F238E27FC236}">
                <a16:creationId xmlns:a16="http://schemas.microsoft.com/office/drawing/2014/main" id="{A5EC2C0C-9BA5-4BBC-8EB2-79E39A9B971C}"/>
              </a:ext>
            </a:extLst>
          </p:cNvPr>
          <p:cNvSpPr>
            <a:spLocks xmlns:a="http://schemas.openxmlformats.org/drawingml/2006/main" noGrp="1"/>
          </p:cNvSpPr>
          <p:nvPr/>
        </p:nvSpPr>
        <p:spPr>
          <a:xfrm xmlns:a="http://schemas.openxmlformats.org/drawingml/2006/main">
            <a:off x="1238250" y="2114550"/>
            <a:ext cx="4524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0000"/>
                </a:solidFill>
              </a:defRPr>
            </a:pPr>
            <a:r>
              <a:rPr sz="2100" b="1">
                <a:solidFill>
                  <a:srgbClr val="000000"/>
                </a:solidFill>
              </a:rPr>
              <a:t>Gradient descent will not break a fit it is currently rewarded for making.</a:t>
            </a:r>
          </a:p>
        </p:txBody>
      </p:sp>
      <p:sp>
        <p:nvSpPr>
          <p:cNvPr id="12" name="sde">
            <a:extLst xmlns:a="http://schemas.openxmlformats.org/drawingml/2006/main">
              <a:ext uri="{FF2B5EF4-FFF2-40B4-BE49-F238E27FC236}">
                <a16:creationId xmlns:a16="http://schemas.microsoft.com/office/drawing/2014/main" id="{1FF3A0E5-8E8D-4628-9AB4-6EA8F841E0B5}"/>
              </a:ext>
            </a:extLst>
          </p:cNvPr>
          <p:cNvSpPr>
            <a:spLocks xmlns:a="http://schemas.openxmlformats.org/drawingml/2006/main" noGrp="1"/>
          </p:cNvSpPr>
          <p:nvPr/>
        </p:nvSpPr>
        <p:spPr>
          <a:xfrm xmlns:a="http://schemas.openxmlformats.org/drawingml/2006/main">
            <a:off x="6762750" y="2305050"/>
            <a:ext cx="3714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3D8DFF"/>
                </a:solidFill>
              </a:defRPr>
            </a:pPr>
            <a:r>
              <a:rPr sz="1950" b="1">
                <a:solidFill>
                  <a:srgbClr val="3D8DFF"/>
                </a:solidFill>
              </a:rPr>
              <a:t>Noise or restart can test escape; insertion cannot.</a:t>
            </a:r>
          </a:p>
        </p:txBody>
      </p:sp>
      <p:sp>
        <p:nvSpPr>
          <p:cNvPr id="13" name="footer">
            <a:extLst xmlns:a="http://schemas.openxmlformats.org/drawingml/2006/main">
              <a:ext uri="{FF2B5EF4-FFF2-40B4-BE49-F238E27FC236}">
                <a16:creationId xmlns:a16="http://schemas.microsoft.com/office/drawing/2014/main" id="{A4BCAC64-D9D2-4B0E-ADDD-0037CE687E11}"/>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7</a:t>
            </a:r>
          </a:p>
        </p:txBody>
      </p:sp>
    </p:spTree>
    <p:extLst>
      <p:ext uri="{BB962C8B-B14F-4D97-AF65-F5344CB8AC3E}">
        <p14:creationId xmlns:p14="http://schemas.microsoft.com/office/powerpoint/2010/main" val="1166837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C6576842-10CC-437A-A0D0-E7D5CAA0A2C3}"/>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D8FABC85-0170-4FF3-88D2-5FFCE6BD074F}"/>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The decision is whether to test escape cleanly</a:t>
            </a:r>
          </a:p>
        </p:txBody>
      </p:sp>
      <p:sp>
        <p:nvSpPr>
          <p:cNvPr id="3" name="rule">
            <a:extLst xmlns:a="http://schemas.openxmlformats.org/drawingml/2006/main">
              <a:ext uri="{FF2B5EF4-FFF2-40B4-BE49-F238E27FC236}">
                <a16:creationId xmlns:a16="http://schemas.microsoft.com/office/drawing/2014/main" id="{E11300F6-E6FD-41F3-A558-7D8FEB089F9F}"/>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4" name="metric-30 degrees/step">
            <a:extLst xmlns:a="http://schemas.openxmlformats.org/drawingml/2006/main">
              <a:ext uri="{FF2B5EF4-FFF2-40B4-BE49-F238E27FC236}">
                <a16:creationId xmlns:a16="http://schemas.microsoft.com/office/drawing/2014/main" id="{702BFB73-F904-465D-BFAD-38379413D092}"/>
              </a:ext>
            </a:extLst>
          </p:cNvPr>
          <p:cNvSpPr>
            <a:spLocks xmlns:a="http://schemas.openxmlformats.org/drawingml/2006/main" noGrp="1"/>
          </p:cNvSpPr>
          <p:nvPr/>
        </p:nvSpPr>
        <p:spPr>
          <a:xfrm xmlns:a="http://schemas.openxmlformats.org/drawingml/2006/main">
            <a:off x="1047750" y="21907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C9473A"/>
                </a:solidFill>
              </a:defRPr>
            </a:pPr>
            <a:r>
              <a:rPr sz="3600" b="1">
                <a:solidFill>
                  <a:srgbClr val="C9473A"/>
                </a:solidFill>
              </a:rPr>
              <a:t>S2</a:t>
            </a:r>
          </a:p>
        </p:txBody>
      </p:sp>
      <p:sp>
        <p:nvSpPr>
          <p:cNvPr id="5" name="metric-label-30 degrees/step">
            <a:extLst xmlns:a="http://schemas.openxmlformats.org/drawingml/2006/main">
              <a:ext uri="{FF2B5EF4-FFF2-40B4-BE49-F238E27FC236}">
                <a16:creationId xmlns:a16="http://schemas.microsoft.com/office/drawing/2014/main" id="{EAEC3525-A180-48F4-9FD7-46F5FE4A8B7E}"/>
              </a:ext>
            </a:extLst>
          </p:cNvPr>
          <p:cNvSpPr>
            <a:spLocks xmlns:a="http://schemas.openxmlformats.org/drawingml/2006/main" noGrp="1"/>
          </p:cNvSpPr>
          <p:nvPr/>
        </p:nvSpPr>
        <p:spPr>
          <a:xfrm xmlns:a="http://schemas.openxmlformats.org/drawingml/2006/main">
            <a:off x="1047750" y="278130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30 degrees/step</a:t>
            </a:r>
          </a:p>
        </p:txBody>
      </p:sp>
      <p:sp>
        <p:nvSpPr>
          <p:cNvPr id="6" name="metric-both-found recovery collapsed">
            <a:extLst xmlns:a="http://schemas.openxmlformats.org/drawingml/2006/main">
              <a:ext uri="{FF2B5EF4-FFF2-40B4-BE49-F238E27FC236}">
                <a16:creationId xmlns:a16="http://schemas.microsoft.com/office/drawing/2014/main" id="{9B216001-FCC5-48F9-A2F3-E9952255B607}"/>
              </a:ext>
            </a:extLst>
          </p:cNvPr>
          <p:cNvSpPr>
            <a:spLocks xmlns:a="http://schemas.openxmlformats.org/drawingml/2006/main" noGrp="1"/>
          </p:cNvSpPr>
          <p:nvPr/>
        </p:nvSpPr>
        <p:spPr>
          <a:xfrm xmlns:a="http://schemas.openxmlformats.org/drawingml/2006/main">
            <a:off x="3810000" y="21907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C9473A"/>
                </a:solidFill>
              </a:defRPr>
            </a:pPr>
            <a:r>
              <a:rPr sz="3600" b="1">
                <a:solidFill>
                  <a:srgbClr val="C9473A"/>
                </a:solidFill>
              </a:rPr>
              <a:t>742 -&gt; 575</a:t>
            </a:r>
          </a:p>
        </p:txBody>
      </p:sp>
      <p:sp>
        <p:nvSpPr>
          <p:cNvPr id="7" name="metric-label-both-found recovery collapsed">
            <a:extLst xmlns:a="http://schemas.openxmlformats.org/drawingml/2006/main">
              <a:ext uri="{FF2B5EF4-FFF2-40B4-BE49-F238E27FC236}">
                <a16:creationId xmlns:a16="http://schemas.microsoft.com/office/drawing/2014/main" id="{1E3B5CD6-D616-4366-82B3-BC7FB3E09C2F}"/>
              </a:ext>
            </a:extLst>
          </p:cNvPr>
          <p:cNvSpPr>
            <a:spLocks xmlns:a="http://schemas.openxmlformats.org/drawingml/2006/main" noGrp="1"/>
          </p:cNvSpPr>
          <p:nvPr/>
        </p:nvSpPr>
        <p:spPr>
          <a:xfrm xmlns:a="http://schemas.openxmlformats.org/drawingml/2006/main">
            <a:off x="3810000" y="278130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both-found recovery collapsed</a:t>
            </a:r>
          </a:p>
        </p:txBody>
      </p:sp>
      <p:sp>
        <p:nvSpPr>
          <p:cNvPr id="8" name="metric-10 degrees/step remains untested">
            <a:extLst xmlns:a="http://schemas.openxmlformats.org/drawingml/2006/main">
              <a:ext uri="{FF2B5EF4-FFF2-40B4-BE49-F238E27FC236}">
                <a16:creationId xmlns:a16="http://schemas.microsoft.com/office/drawing/2014/main" id="{B50FCE37-A946-4D0E-820B-30B8E71FBA01}"/>
              </a:ext>
            </a:extLst>
          </p:cNvPr>
          <p:cNvSpPr>
            <a:spLocks xmlns:a="http://schemas.openxmlformats.org/drawingml/2006/main" noGrp="1"/>
          </p:cNvSpPr>
          <p:nvPr/>
        </p:nvSpPr>
        <p:spPr>
          <a:xfrm xmlns:a="http://schemas.openxmlformats.org/drawingml/2006/main">
            <a:off x="7239000" y="219075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3D8DFF"/>
                </a:solidFill>
              </a:defRPr>
            </a:pPr>
            <a:r>
              <a:rPr sz="3600" b="1">
                <a:solidFill>
                  <a:srgbClr val="3D8DFF"/>
                </a:solidFill>
              </a:rPr>
              <a:t>S1</a:t>
            </a:r>
          </a:p>
        </p:txBody>
      </p:sp>
      <p:sp>
        <p:nvSpPr>
          <p:cNvPr id="9" name="metric-label-10 degrees/step remains untested">
            <a:extLst xmlns:a="http://schemas.openxmlformats.org/drawingml/2006/main">
              <a:ext uri="{FF2B5EF4-FFF2-40B4-BE49-F238E27FC236}">
                <a16:creationId xmlns:a16="http://schemas.microsoft.com/office/drawing/2014/main" id="{A16305DA-E88A-4CF2-9697-AC167105E3F6}"/>
              </a:ext>
            </a:extLst>
          </p:cNvPr>
          <p:cNvSpPr>
            <a:spLocks xmlns:a="http://schemas.openxmlformats.org/drawingml/2006/main" noGrp="1"/>
          </p:cNvSpPr>
          <p:nvPr/>
        </p:nvSpPr>
        <p:spPr>
          <a:xfrm xmlns:a="http://schemas.openxmlformats.org/drawingml/2006/main">
            <a:off x="7239000" y="2781300"/>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9616D"/>
                </a:solidFill>
              </a:defRPr>
            </a:pPr>
            <a:r>
              <a:rPr sz="1350" b="0">
                <a:solidFill>
                  <a:srgbClr val="59616D"/>
                </a:solidFill>
              </a:rPr>
              <a:t>10 degrees/step remains untested</a:t>
            </a:r>
          </a:p>
        </p:txBody>
      </p:sp>
      <p:sp>
        <p:nvSpPr>
          <p:cNvPr id="10" name="bullet-0">
            <a:extLst xmlns:a="http://schemas.openxmlformats.org/drawingml/2006/main">
              <a:ext uri="{FF2B5EF4-FFF2-40B4-BE49-F238E27FC236}">
                <a16:creationId xmlns:a16="http://schemas.microsoft.com/office/drawing/2014/main" id="{F10DDD96-3FE9-4410-BE93-361FE48488B1}"/>
              </a:ext>
            </a:extLst>
          </p:cNvPr>
          <p:cNvSpPr>
            <a:spLocks xmlns:a="http://schemas.openxmlformats.org/drawingml/2006/main" noGrp="1"/>
          </p:cNvSpPr>
          <p:nvPr/>
        </p:nvSpPr>
        <p:spPr>
          <a:xfrm xmlns:a="http://schemas.openxmlformats.org/drawingml/2006/main">
            <a:off x="1238250" y="4238625"/>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S2 looks like non-convergence, not a clean failed-escape result</a:t>
            </a:r>
          </a:p>
        </p:txBody>
      </p:sp>
      <p:sp>
        <p:nvSpPr>
          <p:cNvPr id="11" name="bullet-1">
            <a:extLst xmlns:a="http://schemas.openxmlformats.org/drawingml/2006/main">
              <a:ext uri="{FF2B5EF4-FFF2-40B4-BE49-F238E27FC236}">
                <a16:creationId xmlns:a16="http://schemas.microsoft.com/office/drawing/2014/main" id="{F7108094-C7D0-4B7D-9CFD-4F7DA738ECB6}"/>
              </a:ext>
            </a:extLst>
          </p:cNvPr>
          <p:cNvSpPr>
            <a:spLocks xmlns:a="http://schemas.openxmlformats.org/drawingml/2006/main" noGrp="1"/>
          </p:cNvSpPr>
          <p:nvPr/>
        </p:nvSpPr>
        <p:spPr>
          <a:xfrm xmlns:a="http://schemas.openxmlformats.org/drawingml/2006/main">
            <a:off x="1238250" y="4695825"/>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The honest test is smaller perturbation around local minima</a:t>
            </a:r>
          </a:p>
        </p:txBody>
      </p:sp>
      <p:sp>
        <p:nvSpPr>
          <p:cNvPr id="12" name="bullet-2">
            <a:extLst xmlns:a="http://schemas.openxmlformats.org/drawingml/2006/main">
              <a:ext uri="{FF2B5EF4-FFF2-40B4-BE49-F238E27FC236}">
                <a16:creationId xmlns:a16="http://schemas.microsoft.com/office/drawing/2014/main" id="{FD6D24EC-7C68-4881-9F8A-2F7E143C9B4E}"/>
              </a:ext>
            </a:extLst>
          </p:cNvPr>
          <p:cNvSpPr>
            <a:spLocks xmlns:a="http://schemas.openxmlformats.org/drawingml/2006/main" noGrp="1"/>
          </p:cNvSpPr>
          <p:nvPr/>
        </p:nvSpPr>
        <p:spPr>
          <a:xfrm xmlns:a="http://schemas.openxmlformats.org/drawingml/2006/main">
            <a:off x="1238250" y="5153025"/>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Decision: spend another quarter on S1 or move to experimental density</a:t>
            </a:r>
          </a:p>
        </p:txBody>
      </p:sp>
      <p:sp>
        <p:nvSpPr>
          <p:cNvPr id="13" name="footer">
            <a:extLst xmlns:a="http://schemas.openxmlformats.org/drawingml/2006/main">
              <a:ext uri="{FF2B5EF4-FFF2-40B4-BE49-F238E27FC236}">
                <a16:creationId xmlns:a16="http://schemas.microsoft.com/office/drawing/2014/main" id="{A3D071CE-F68F-48D9-80EC-65D6A43C455C}"/>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8</a:t>
            </a:r>
          </a:p>
        </p:txBody>
      </p:sp>
    </p:spTree>
    <p:extLst>
      <p:ext uri="{BB962C8B-B14F-4D97-AF65-F5344CB8AC3E}">
        <p14:creationId xmlns:p14="http://schemas.microsoft.com/office/powerpoint/2010/main" val="2001886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4DA19176-CD70-4F9D-8730-EE663B83AEB6}"/>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81B11992-A0C1-4E5E-A547-35CA6ED6665C}"/>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Backup: frozen-v3 metric definition</a:t>
            </a:r>
          </a:p>
        </p:txBody>
      </p:sp>
      <p:sp>
        <p:nvSpPr>
          <p:cNvPr id="3" name="rule">
            <a:extLst xmlns:a="http://schemas.openxmlformats.org/drawingml/2006/main">
              <a:ext uri="{FF2B5EF4-FFF2-40B4-BE49-F238E27FC236}">
                <a16:creationId xmlns:a16="http://schemas.microsoft.com/office/drawing/2014/main" id="{A0FBE0C0-14B5-40DC-B275-EA8E21EC2F2B}"/>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4" name="bullet-0">
            <a:extLst xmlns:a="http://schemas.openxmlformats.org/drawingml/2006/main">
              <a:ext uri="{FF2B5EF4-FFF2-40B4-BE49-F238E27FC236}">
                <a16:creationId xmlns:a16="http://schemas.microsoft.com/office/drawing/2014/main" id="{A96DDD4D-7C3E-4851-AF7B-4068FA5206F5}"/>
              </a:ext>
            </a:extLst>
          </p:cNvPr>
          <p:cNvSpPr>
            <a:spLocks xmlns:a="http://schemas.openxmlformats.org/drawingml/2006/main" noGrp="1"/>
          </p:cNvSpPr>
          <p:nvPr/>
        </p:nvSpPr>
        <p:spPr>
          <a:xfrm xmlns:a="http://schemas.openxmlformats.org/drawingml/2006/main">
            <a:off x="1047750" y="219075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v1 undercounted recovery through independent greedy labels</a:t>
            </a:r>
          </a:p>
        </p:txBody>
      </p:sp>
      <p:sp>
        <p:nvSpPr>
          <p:cNvPr id="5" name="bullet-1">
            <a:extLst xmlns:a="http://schemas.openxmlformats.org/drawingml/2006/main">
              <a:ext uri="{FF2B5EF4-FFF2-40B4-BE49-F238E27FC236}">
                <a16:creationId xmlns:a16="http://schemas.microsoft.com/office/drawing/2014/main" id="{223FE961-9ADB-4316-A14D-74148F98ECCF}"/>
              </a:ext>
            </a:extLst>
          </p:cNvPr>
          <p:cNvSpPr>
            <a:spLocks xmlns:a="http://schemas.openxmlformats.org/drawingml/2006/main" noGrp="1"/>
          </p:cNvSpPr>
          <p:nvPr/>
        </p:nvSpPr>
        <p:spPr>
          <a:xfrm xmlns:a="http://schemas.openxmlformats.org/drawingml/2006/main">
            <a:off x="1047750" y="27432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v2 fixed one-to-one assignment but omitted genuine near-duplicate occupancy</a:t>
            </a:r>
          </a:p>
        </p:txBody>
      </p:sp>
      <p:sp>
        <p:nvSpPr>
          <p:cNvPr id="6" name="bullet-2">
            <a:extLst xmlns:a="http://schemas.openxmlformats.org/drawingml/2006/main">
              <a:ext uri="{FF2B5EF4-FFF2-40B4-BE49-F238E27FC236}">
                <a16:creationId xmlns:a16="http://schemas.microsoft.com/office/drawing/2014/main" id="{CD3F8E96-7046-4D41-B5A8-9DD4E67CA0E6}"/>
              </a:ext>
            </a:extLst>
          </p:cNvPr>
          <p:cNvSpPr>
            <a:spLocks xmlns:a="http://schemas.openxmlformats.org/drawingml/2006/main" noGrp="1"/>
          </p:cNvSpPr>
          <p:nvPr/>
        </p:nvSpPr>
        <p:spPr>
          <a:xfrm xmlns:a="http://schemas.openxmlformats.org/drawingml/2006/main">
            <a:off x="1047750" y="329565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v3 uses 0.5 A protected merge, one-to-one assignment, and tmol &lt;= +0.44</a:t>
            </a:r>
          </a:p>
        </p:txBody>
      </p:sp>
      <p:sp>
        <p:nvSpPr>
          <p:cNvPr id="7" name="bullet-3">
            <a:extLst xmlns:a="http://schemas.openxmlformats.org/drawingml/2006/main">
              <a:ext uri="{FF2B5EF4-FFF2-40B4-BE49-F238E27FC236}">
                <a16:creationId xmlns:a16="http://schemas.microsoft.com/office/drawing/2014/main" id="{5407BAF2-507C-4FBA-8D75-2CA4433374E0}"/>
              </a:ext>
            </a:extLst>
          </p:cNvPr>
          <p:cNvSpPr>
            <a:spLocks xmlns:a="http://schemas.openxmlformats.org/drawingml/2006/main" noGrp="1"/>
          </p:cNvSpPr>
          <p:nvPr/>
        </p:nvSpPr>
        <p:spPr>
          <a:xfrm xmlns:a="http://schemas.openxmlformats.org/drawingml/2006/main">
            <a:off x="1047750" y="38481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000000"/>
                </a:solidFill>
              </a:defRPr>
            </a:pPr>
            <a:r>
              <a:rPr sz="1800" b="0">
                <a:solidFill>
                  <a:srgbClr val="000000"/>
                </a:solidFill>
              </a:rPr>
              <a:t>- Frozen control cascade: 742 -&gt; 714 -&gt; 710 -&gt; 710 -&gt; 710 -&gt; 626</a:t>
            </a:r>
          </a:p>
        </p:txBody>
      </p:sp>
      <p:sp>
        <p:nvSpPr>
          <p:cNvPr id="8" name="footer">
            <a:extLst xmlns:a="http://schemas.openxmlformats.org/drawingml/2006/main">
              <a:ext uri="{FF2B5EF4-FFF2-40B4-BE49-F238E27FC236}">
                <a16:creationId xmlns:a16="http://schemas.microsoft.com/office/drawing/2014/main" id="{2ED11A83-2E8C-40E9-9FF0-46F16CBB09D4}"/>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9</a:t>
            </a:r>
          </a:p>
        </p:txBody>
      </p:sp>
    </p:spTree>
    <p:extLst>
      <p:ext uri="{BB962C8B-B14F-4D97-AF65-F5344CB8AC3E}">
        <p14:creationId xmlns:p14="http://schemas.microsoft.com/office/powerpoint/2010/main" val="17351126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8297DD68-0410-48BF-BBF7-F606E6F973E6}"/>
              </a:ext>
            </a:extLst>
          </p:cNvPr>
          <p:cNvSpPr>
            <a:spLocks xmlns:a="http://schemas.openxmlformats.org/drawingml/2006/main" noGrp="1"/>
          </p:cNvSpPr>
          <p:nvPr/>
        </p:nvSpPr>
        <p:spPr>
          <a:xfrm xmlns:a="http://schemas.openxmlformats.org/drawingml/2006/main">
            <a:off x="685800" y="400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SYNTHETIC 20-SITE AUDIT</a:t>
            </a:r>
          </a:p>
        </p:txBody>
      </p:sp>
      <p:sp>
        <p:nvSpPr>
          <p:cNvPr id="2" name="title">
            <a:extLst xmlns:a="http://schemas.openxmlformats.org/drawingml/2006/main">
              <a:ext uri="{FF2B5EF4-FFF2-40B4-BE49-F238E27FC236}">
                <a16:creationId xmlns:a16="http://schemas.microsoft.com/office/drawing/2014/main" id="{81867910-C170-433A-B18A-5B440C79E8D4}"/>
              </a:ext>
            </a:extLst>
          </p:cNvPr>
          <p:cNvSpPr>
            <a:spLocks xmlns:a="http://schemas.openxmlformats.org/drawingml/2006/main" noGrp="1"/>
          </p:cNvSpPr>
          <p:nvPr/>
        </p:nvSpPr>
        <p:spPr>
          <a:xfrm xmlns:a="http://schemas.openxmlformats.org/drawingml/2006/main">
            <a:off x="685800" y="742950"/>
            <a:ext cx="904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Backup: the tail is concentrated by site</a:t>
            </a:r>
          </a:p>
        </p:txBody>
      </p:sp>
      <p:sp>
        <p:nvSpPr>
          <p:cNvPr id="3" name="rule">
            <a:extLst xmlns:a="http://schemas.openxmlformats.org/drawingml/2006/main">
              <a:ext uri="{FF2B5EF4-FFF2-40B4-BE49-F238E27FC236}">
                <a16:creationId xmlns:a16="http://schemas.microsoft.com/office/drawing/2014/main" id="{5358E998-9ABE-460B-BC6E-ABA24FD70E70}"/>
              </a:ext>
            </a:extLst>
          </p:cNvPr>
          <p:cNvSpPr>
            <a:spLocks xmlns:a="http://schemas.openxmlformats.org/drawingml/2006/main" noGrp="1"/>
          </p:cNvSpPr>
          <p:nvPr/>
        </p:nvSpPr>
        <p:spPr>
          <a:xfrm xmlns:a="http://schemas.openxmlformats.org/drawingml/2006/main">
            <a:off x="685800" y="1619250"/>
            <a:ext cx="108204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4" name="label-130-230">
            <a:extLst xmlns:a="http://schemas.openxmlformats.org/drawingml/2006/main">
              <a:ext uri="{FF2B5EF4-FFF2-40B4-BE49-F238E27FC236}">
                <a16:creationId xmlns:a16="http://schemas.microsoft.com/office/drawing/2014/main" id="{8F618178-4FB8-4BF2-BD2B-840EFD7F813F}"/>
              </a:ext>
            </a:extLst>
          </p:cNvPr>
          <p:cNvSpPr>
            <a:spLocks xmlns:a="http://schemas.openxmlformats.org/drawingml/2006/main" noGrp="1"/>
          </p:cNvSpPr>
          <p:nvPr/>
        </p:nvSpPr>
        <p:spPr>
          <a:xfrm xmlns:a="http://schemas.openxmlformats.org/drawingml/2006/main">
            <a:off x="1238250" y="21907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Site</a:t>
            </a:r>
          </a:p>
        </p:txBody>
      </p:sp>
      <p:sp>
        <p:nvSpPr>
          <p:cNvPr id="5" name="label-390-230">
            <a:extLst xmlns:a="http://schemas.openxmlformats.org/drawingml/2006/main">
              <a:ext uri="{FF2B5EF4-FFF2-40B4-BE49-F238E27FC236}">
                <a16:creationId xmlns:a16="http://schemas.microsoft.com/office/drawing/2014/main" id="{2AA451CB-9B03-49DF-8E3C-9331403E1FDC}"/>
              </a:ext>
            </a:extLst>
          </p:cNvPr>
          <p:cNvSpPr>
            <a:spLocks xmlns:a="http://schemas.openxmlformats.org/drawingml/2006/main" noGrp="1"/>
          </p:cNvSpPr>
          <p:nvPr/>
        </p:nvSpPr>
        <p:spPr>
          <a:xfrm xmlns:a="http://schemas.openxmlformats.org/drawingml/2006/main">
            <a:off x="3714750" y="21907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Missed minor</a:t>
            </a:r>
          </a:p>
        </p:txBody>
      </p:sp>
      <p:sp>
        <p:nvSpPr>
          <p:cNvPr id="6" name="label-670-230">
            <a:extLst xmlns:a="http://schemas.openxmlformats.org/drawingml/2006/main">
              <a:ext uri="{FF2B5EF4-FFF2-40B4-BE49-F238E27FC236}">
                <a16:creationId xmlns:a16="http://schemas.microsoft.com/office/drawing/2014/main" id="{8CAA6154-3C73-4C5B-B7FF-76F060B99601}"/>
              </a:ext>
            </a:extLst>
          </p:cNvPr>
          <p:cNvSpPr>
            <a:spLocks xmlns:a="http://schemas.openxmlformats.org/drawingml/2006/main" noGrp="1"/>
          </p:cNvSpPr>
          <p:nvPr/>
        </p:nvSpPr>
        <p:spPr>
          <a:xfrm xmlns:a="http://schemas.openxmlformats.org/drawingml/2006/main">
            <a:off x="6381750" y="21907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9616D"/>
                </a:solidFill>
              </a:defRPr>
            </a:pPr>
            <a:r>
              <a:rPr sz="1050" b="1">
                <a:solidFill>
                  <a:srgbClr val="59616D"/>
                </a:solidFill>
              </a:rPr>
              <a:t>Missed major</a:t>
            </a:r>
          </a:p>
        </p:txBody>
      </p:sp>
      <p:sp>
        <p:nvSpPr>
          <p:cNvPr id="7" name="site-0">
            <a:extLst xmlns:a="http://schemas.openxmlformats.org/drawingml/2006/main">
              <a:ext uri="{FF2B5EF4-FFF2-40B4-BE49-F238E27FC236}">
                <a16:creationId xmlns:a16="http://schemas.microsoft.com/office/drawing/2014/main" id="{6EE0610D-0C40-4241-85EF-936177161DFA}"/>
              </a:ext>
            </a:extLst>
          </p:cNvPr>
          <p:cNvSpPr>
            <a:spLocks xmlns:a="http://schemas.openxmlformats.org/drawingml/2006/main" noGrp="1"/>
          </p:cNvSpPr>
          <p:nvPr/>
        </p:nvSpPr>
        <p:spPr>
          <a:xfrm xmlns:a="http://schemas.openxmlformats.org/drawingml/2006/main">
            <a:off x="1238250" y="261937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1ZV8</a:t>
            </a:r>
          </a:p>
        </p:txBody>
      </p:sp>
      <p:sp>
        <p:nvSpPr>
          <p:cNvPr id="8" name="minorbar-0">
            <a:extLst xmlns:a="http://schemas.openxmlformats.org/drawingml/2006/main">
              <a:ext uri="{FF2B5EF4-FFF2-40B4-BE49-F238E27FC236}">
                <a16:creationId xmlns:a16="http://schemas.microsoft.com/office/drawing/2014/main" id="{5C4A9DC5-5B44-497E-A9CE-AABA94DBD208}"/>
              </a:ext>
            </a:extLst>
          </p:cNvPr>
          <p:cNvSpPr>
            <a:spLocks xmlns:a="http://schemas.openxmlformats.org/drawingml/2006/main" noGrp="1"/>
          </p:cNvSpPr>
          <p:nvPr/>
        </p:nvSpPr>
        <p:spPr>
          <a:xfrm xmlns:a="http://schemas.openxmlformats.org/drawingml/2006/main">
            <a:off x="3714750" y="2657475"/>
            <a:ext cx="1333500" cy="266700"/>
          </a:xfrm>
          <a:prstGeom xmlns:a="http://schemas.openxmlformats.org/drawingml/2006/main" prst="rect">
            <a:avLst/>
          </a:prstGeom>
          <a:solidFill xmlns:a="http://schemas.openxmlformats.org/drawingml/2006/main">
            <a:srgbClr val="C9473A"/>
          </a:solidFill>
          <a:ln xmlns:a="http://schemas.openxmlformats.org/drawingml/2006/main" w="9525">
            <a:solidFill>
              <a:srgbClr val="C9473A"/>
            </a:solidFill>
            <a:prstDash val="solid"/>
          </a:ln>
        </p:spPr>
      </p:sp>
      <p:sp>
        <p:nvSpPr>
          <p:cNvPr id="9" name="minorval-0">
            <a:extLst xmlns:a="http://schemas.openxmlformats.org/drawingml/2006/main">
              <a:ext uri="{FF2B5EF4-FFF2-40B4-BE49-F238E27FC236}">
                <a16:creationId xmlns:a16="http://schemas.microsoft.com/office/drawing/2014/main" id="{F31E4103-61CC-4B44-82EC-BDB0807F9800}"/>
              </a:ext>
            </a:extLst>
          </p:cNvPr>
          <p:cNvSpPr>
            <a:spLocks xmlns:a="http://schemas.openxmlformats.org/drawingml/2006/main" noGrp="1"/>
          </p:cNvSpPr>
          <p:nvPr/>
        </p:nvSpPr>
        <p:spPr>
          <a:xfrm xmlns:a="http://schemas.openxmlformats.org/drawingml/2006/main">
            <a:off x="6762750" y="26193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20</a:t>
            </a:r>
          </a:p>
        </p:txBody>
      </p:sp>
      <p:sp>
        <p:nvSpPr>
          <p:cNvPr id="10" name="majorbar-0">
            <a:extLst xmlns:a="http://schemas.openxmlformats.org/drawingml/2006/main">
              <a:ext uri="{FF2B5EF4-FFF2-40B4-BE49-F238E27FC236}">
                <a16:creationId xmlns:a16="http://schemas.microsoft.com/office/drawing/2014/main" id="{78F27594-68BB-4DC0-BEAF-5D7AFA77412F}"/>
              </a:ext>
            </a:extLst>
          </p:cNvPr>
          <p:cNvSpPr>
            <a:spLocks xmlns:a="http://schemas.openxmlformats.org/drawingml/2006/main" noGrp="1"/>
          </p:cNvSpPr>
          <p:nvPr/>
        </p:nvSpPr>
        <p:spPr>
          <a:xfrm xmlns:a="http://schemas.openxmlformats.org/drawingml/2006/main">
            <a:off x="7715250" y="2657475"/>
            <a:ext cx="95250" cy="266700"/>
          </a:xfrm>
          <a:prstGeom xmlns:a="http://schemas.openxmlformats.org/drawingml/2006/main" prst="rect">
            <a:avLst/>
          </a:prstGeom>
          <a:solidFill xmlns:a="http://schemas.openxmlformats.org/drawingml/2006/main">
            <a:srgbClr val="59616D"/>
          </a:solidFill>
          <a:ln xmlns:a="http://schemas.openxmlformats.org/drawingml/2006/main" w="9525">
            <a:solidFill>
              <a:srgbClr val="59616D"/>
            </a:solidFill>
            <a:prstDash val="solid"/>
          </a:ln>
        </p:spPr>
      </p:sp>
      <p:sp>
        <p:nvSpPr>
          <p:cNvPr id="11" name="majorval-0">
            <a:extLst xmlns:a="http://schemas.openxmlformats.org/drawingml/2006/main">
              <a:ext uri="{FF2B5EF4-FFF2-40B4-BE49-F238E27FC236}">
                <a16:creationId xmlns:a16="http://schemas.microsoft.com/office/drawing/2014/main" id="{DF16F4AC-EE7D-4827-8562-4EAEAEDC248B}"/>
              </a:ext>
            </a:extLst>
          </p:cNvPr>
          <p:cNvSpPr>
            <a:spLocks xmlns:a="http://schemas.openxmlformats.org/drawingml/2006/main" noGrp="1"/>
          </p:cNvSpPr>
          <p:nvPr/>
        </p:nvSpPr>
        <p:spPr>
          <a:xfrm xmlns:a="http://schemas.openxmlformats.org/drawingml/2006/main">
            <a:off x="10048875" y="26193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1</a:t>
            </a:r>
          </a:p>
        </p:txBody>
      </p:sp>
      <p:sp>
        <p:nvSpPr>
          <p:cNvPr id="12" name="site-1">
            <a:extLst xmlns:a="http://schemas.openxmlformats.org/drawingml/2006/main">
              <a:ext uri="{FF2B5EF4-FFF2-40B4-BE49-F238E27FC236}">
                <a16:creationId xmlns:a16="http://schemas.microsoft.com/office/drawing/2014/main" id="{162C0EF3-BCA8-4C6F-997D-ECD6A39B6238}"/>
              </a:ext>
            </a:extLst>
          </p:cNvPr>
          <p:cNvSpPr>
            <a:spLocks xmlns:a="http://schemas.openxmlformats.org/drawingml/2006/main" noGrp="1"/>
          </p:cNvSpPr>
          <p:nvPr/>
        </p:nvSpPr>
        <p:spPr>
          <a:xfrm xmlns:a="http://schemas.openxmlformats.org/drawingml/2006/main">
            <a:off x="1238250" y="322897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2VFP</a:t>
            </a:r>
          </a:p>
        </p:txBody>
      </p:sp>
      <p:sp>
        <p:nvSpPr>
          <p:cNvPr id="13" name="minorbar-1">
            <a:extLst xmlns:a="http://schemas.openxmlformats.org/drawingml/2006/main">
              <a:ext uri="{FF2B5EF4-FFF2-40B4-BE49-F238E27FC236}">
                <a16:creationId xmlns:a16="http://schemas.microsoft.com/office/drawing/2014/main" id="{CBA4B791-BFA2-4FB1-9F92-7AAB0096457A}"/>
              </a:ext>
            </a:extLst>
          </p:cNvPr>
          <p:cNvSpPr>
            <a:spLocks xmlns:a="http://schemas.openxmlformats.org/drawingml/2006/main" noGrp="1"/>
          </p:cNvSpPr>
          <p:nvPr/>
        </p:nvSpPr>
        <p:spPr>
          <a:xfrm xmlns:a="http://schemas.openxmlformats.org/drawingml/2006/main">
            <a:off x="3714750" y="3267075"/>
            <a:ext cx="2933700" cy="266700"/>
          </a:xfrm>
          <a:prstGeom xmlns:a="http://schemas.openxmlformats.org/drawingml/2006/main" prst="rect">
            <a:avLst/>
          </a:prstGeom>
          <a:solidFill xmlns:a="http://schemas.openxmlformats.org/drawingml/2006/main">
            <a:srgbClr val="C9473A"/>
          </a:solidFill>
          <a:ln xmlns:a="http://schemas.openxmlformats.org/drawingml/2006/main" w="9525">
            <a:solidFill>
              <a:srgbClr val="C9473A"/>
            </a:solidFill>
            <a:prstDash val="solid"/>
          </a:ln>
        </p:spPr>
      </p:sp>
      <p:sp>
        <p:nvSpPr>
          <p:cNvPr id="14" name="minorval-1">
            <a:extLst xmlns:a="http://schemas.openxmlformats.org/drawingml/2006/main">
              <a:ext uri="{FF2B5EF4-FFF2-40B4-BE49-F238E27FC236}">
                <a16:creationId xmlns:a16="http://schemas.microsoft.com/office/drawing/2014/main" id="{120698A0-6FE1-4790-BD0A-2EDA3AB890DA}"/>
              </a:ext>
            </a:extLst>
          </p:cNvPr>
          <p:cNvSpPr>
            <a:spLocks xmlns:a="http://schemas.openxmlformats.org/drawingml/2006/main" noGrp="1"/>
          </p:cNvSpPr>
          <p:nvPr/>
        </p:nvSpPr>
        <p:spPr>
          <a:xfrm xmlns:a="http://schemas.openxmlformats.org/drawingml/2006/main">
            <a:off x="6762750" y="32289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44</a:t>
            </a:r>
          </a:p>
        </p:txBody>
      </p:sp>
      <p:sp>
        <p:nvSpPr>
          <p:cNvPr id="15" name="majorbar-1">
            <a:extLst xmlns:a="http://schemas.openxmlformats.org/drawingml/2006/main">
              <a:ext uri="{FF2B5EF4-FFF2-40B4-BE49-F238E27FC236}">
                <a16:creationId xmlns:a16="http://schemas.microsoft.com/office/drawing/2014/main" id="{CB48E802-6FFD-4EE2-9F31-CE5D84680555}"/>
              </a:ext>
            </a:extLst>
          </p:cNvPr>
          <p:cNvSpPr>
            <a:spLocks xmlns:a="http://schemas.openxmlformats.org/drawingml/2006/main" noGrp="1"/>
          </p:cNvSpPr>
          <p:nvPr/>
        </p:nvSpPr>
        <p:spPr>
          <a:xfrm xmlns:a="http://schemas.openxmlformats.org/drawingml/2006/main">
            <a:off x="7715250" y="3267075"/>
            <a:ext cx="0" cy="266700"/>
          </a:xfrm>
          <a:prstGeom xmlns:a="http://schemas.openxmlformats.org/drawingml/2006/main" prst="rect">
            <a:avLst/>
          </a:prstGeom>
          <a:solidFill xmlns:a="http://schemas.openxmlformats.org/drawingml/2006/main">
            <a:srgbClr val="59616D"/>
          </a:solidFill>
          <a:ln xmlns:a="http://schemas.openxmlformats.org/drawingml/2006/main" w="9525">
            <a:solidFill>
              <a:srgbClr val="59616D"/>
            </a:solidFill>
            <a:prstDash val="solid"/>
          </a:ln>
        </p:spPr>
      </p:sp>
      <p:sp>
        <p:nvSpPr>
          <p:cNvPr id="16" name="majorval-1">
            <a:extLst xmlns:a="http://schemas.openxmlformats.org/drawingml/2006/main">
              <a:ext uri="{FF2B5EF4-FFF2-40B4-BE49-F238E27FC236}">
                <a16:creationId xmlns:a16="http://schemas.microsoft.com/office/drawing/2014/main" id="{AA9F4428-B476-4CC8-BB45-DD8A2565285E}"/>
              </a:ext>
            </a:extLst>
          </p:cNvPr>
          <p:cNvSpPr>
            <a:spLocks xmlns:a="http://schemas.openxmlformats.org/drawingml/2006/main" noGrp="1"/>
          </p:cNvSpPr>
          <p:nvPr/>
        </p:nvSpPr>
        <p:spPr>
          <a:xfrm xmlns:a="http://schemas.openxmlformats.org/drawingml/2006/main">
            <a:off x="10048875" y="32289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0</a:t>
            </a:r>
          </a:p>
        </p:txBody>
      </p:sp>
      <p:sp>
        <p:nvSpPr>
          <p:cNvPr id="17" name="site-2">
            <a:extLst xmlns:a="http://schemas.openxmlformats.org/drawingml/2006/main">
              <a:ext uri="{FF2B5EF4-FFF2-40B4-BE49-F238E27FC236}">
                <a16:creationId xmlns:a16="http://schemas.microsoft.com/office/drawing/2014/main" id="{A0829E78-E6AE-4390-823F-7B5E2DF450D2}"/>
              </a:ext>
            </a:extLst>
          </p:cNvPr>
          <p:cNvSpPr>
            <a:spLocks xmlns:a="http://schemas.openxmlformats.org/drawingml/2006/main" noGrp="1"/>
          </p:cNvSpPr>
          <p:nvPr/>
        </p:nvSpPr>
        <p:spPr>
          <a:xfrm xmlns:a="http://schemas.openxmlformats.org/drawingml/2006/main">
            <a:off x="1238250" y="383857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5Z8H</a:t>
            </a:r>
          </a:p>
        </p:txBody>
      </p:sp>
      <p:sp>
        <p:nvSpPr>
          <p:cNvPr id="18" name="minorbar-2">
            <a:extLst xmlns:a="http://schemas.openxmlformats.org/drawingml/2006/main">
              <a:ext uri="{FF2B5EF4-FFF2-40B4-BE49-F238E27FC236}">
                <a16:creationId xmlns:a16="http://schemas.microsoft.com/office/drawing/2014/main" id="{E5ECCF8C-68C9-46CE-8D08-25C006614092}"/>
              </a:ext>
            </a:extLst>
          </p:cNvPr>
          <p:cNvSpPr>
            <a:spLocks xmlns:a="http://schemas.openxmlformats.org/drawingml/2006/main" noGrp="1"/>
          </p:cNvSpPr>
          <p:nvPr/>
        </p:nvSpPr>
        <p:spPr>
          <a:xfrm xmlns:a="http://schemas.openxmlformats.org/drawingml/2006/main">
            <a:off x="3714750" y="3876675"/>
            <a:ext cx="1733550" cy="266700"/>
          </a:xfrm>
          <a:prstGeom xmlns:a="http://schemas.openxmlformats.org/drawingml/2006/main" prst="rect">
            <a:avLst/>
          </a:prstGeom>
          <a:solidFill xmlns:a="http://schemas.openxmlformats.org/drawingml/2006/main">
            <a:srgbClr val="C9473A"/>
          </a:solidFill>
          <a:ln xmlns:a="http://schemas.openxmlformats.org/drawingml/2006/main" w="9525">
            <a:solidFill>
              <a:srgbClr val="C9473A"/>
            </a:solidFill>
            <a:prstDash val="solid"/>
          </a:ln>
        </p:spPr>
      </p:sp>
      <p:sp>
        <p:nvSpPr>
          <p:cNvPr id="19" name="minorval-2">
            <a:extLst xmlns:a="http://schemas.openxmlformats.org/drawingml/2006/main">
              <a:ext uri="{FF2B5EF4-FFF2-40B4-BE49-F238E27FC236}">
                <a16:creationId xmlns:a16="http://schemas.microsoft.com/office/drawing/2014/main" id="{2228077C-4AEF-4D64-922D-965B0F48791F}"/>
              </a:ext>
            </a:extLst>
          </p:cNvPr>
          <p:cNvSpPr>
            <a:spLocks xmlns:a="http://schemas.openxmlformats.org/drawingml/2006/main" noGrp="1"/>
          </p:cNvSpPr>
          <p:nvPr/>
        </p:nvSpPr>
        <p:spPr>
          <a:xfrm xmlns:a="http://schemas.openxmlformats.org/drawingml/2006/main">
            <a:off x="6762750" y="38385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26</a:t>
            </a:r>
          </a:p>
        </p:txBody>
      </p:sp>
      <p:sp>
        <p:nvSpPr>
          <p:cNvPr id="20" name="majorbar-2">
            <a:extLst xmlns:a="http://schemas.openxmlformats.org/drawingml/2006/main">
              <a:ext uri="{FF2B5EF4-FFF2-40B4-BE49-F238E27FC236}">
                <a16:creationId xmlns:a16="http://schemas.microsoft.com/office/drawing/2014/main" id="{27FF8D4D-18EC-442E-B00C-9F126A0BB2DC}"/>
              </a:ext>
            </a:extLst>
          </p:cNvPr>
          <p:cNvSpPr>
            <a:spLocks xmlns:a="http://schemas.openxmlformats.org/drawingml/2006/main" noGrp="1"/>
          </p:cNvSpPr>
          <p:nvPr/>
        </p:nvSpPr>
        <p:spPr>
          <a:xfrm xmlns:a="http://schemas.openxmlformats.org/drawingml/2006/main">
            <a:off x="7715250" y="3876675"/>
            <a:ext cx="190500" cy="266700"/>
          </a:xfrm>
          <a:prstGeom xmlns:a="http://schemas.openxmlformats.org/drawingml/2006/main" prst="rect">
            <a:avLst/>
          </a:prstGeom>
          <a:solidFill xmlns:a="http://schemas.openxmlformats.org/drawingml/2006/main">
            <a:srgbClr val="59616D"/>
          </a:solidFill>
          <a:ln xmlns:a="http://schemas.openxmlformats.org/drawingml/2006/main" w="9525">
            <a:solidFill>
              <a:srgbClr val="59616D"/>
            </a:solidFill>
            <a:prstDash val="solid"/>
          </a:ln>
        </p:spPr>
      </p:sp>
      <p:sp>
        <p:nvSpPr>
          <p:cNvPr id="21" name="majorval-2">
            <a:extLst xmlns:a="http://schemas.openxmlformats.org/drawingml/2006/main">
              <a:ext uri="{FF2B5EF4-FFF2-40B4-BE49-F238E27FC236}">
                <a16:creationId xmlns:a16="http://schemas.microsoft.com/office/drawing/2014/main" id="{68E7018A-FD56-4166-8073-D758C8E38624}"/>
              </a:ext>
            </a:extLst>
          </p:cNvPr>
          <p:cNvSpPr>
            <a:spLocks xmlns:a="http://schemas.openxmlformats.org/drawingml/2006/main" noGrp="1"/>
          </p:cNvSpPr>
          <p:nvPr/>
        </p:nvSpPr>
        <p:spPr>
          <a:xfrm xmlns:a="http://schemas.openxmlformats.org/drawingml/2006/main">
            <a:off x="10048875" y="38385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2</a:t>
            </a:r>
          </a:p>
        </p:txBody>
      </p:sp>
      <p:sp>
        <p:nvSpPr>
          <p:cNvPr id="22" name="site-3">
            <a:extLst xmlns:a="http://schemas.openxmlformats.org/drawingml/2006/main">
              <a:ext uri="{FF2B5EF4-FFF2-40B4-BE49-F238E27FC236}">
                <a16:creationId xmlns:a16="http://schemas.microsoft.com/office/drawing/2014/main" id="{2C84EA86-C8F7-4FA4-9816-4C0340C9BA5C}"/>
              </a:ext>
            </a:extLst>
          </p:cNvPr>
          <p:cNvSpPr>
            <a:spLocks xmlns:a="http://schemas.openxmlformats.org/drawingml/2006/main" noGrp="1"/>
          </p:cNvSpPr>
          <p:nvPr/>
        </p:nvSpPr>
        <p:spPr>
          <a:xfrm xmlns:a="http://schemas.openxmlformats.org/drawingml/2006/main">
            <a:off x="1238250" y="444817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7UO8</a:t>
            </a:r>
          </a:p>
        </p:txBody>
      </p:sp>
      <p:sp>
        <p:nvSpPr>
          <p:cNvPr id="23" name="minorbar-3">
            <a:extLst xmlns:a="http://schemas.openxmlformats.org/drawingml/2006/main">
              <a:ext uri="{FF2B5EF4-FFF2-40B4-BE49-F238E27FC236}">
                <a16:creationId xmlns:a16="http://schemas.microsoft.com/office/drawing/2014/main" id="{AE888530-9C14-49A8-A260-5C20C00A1D4D}"/>
              </a:ext>
            </a:extLst>
          </p:cNvPr>
          <p:cNvSpPr>
            <a:spLocks xmlns:a="http://schemas.openxmlformats.org/drawingml/2006/main" noGrp="1"/>
          </p:cNvSpPr>
          <p:nvPr/>
        </p:nvSpPr>
        <p:spPr>
          <a:xfrm xmlns:a="http://schemas.openxmlformats.org/drawingml/2006/main">
            <a:off x="3714750" y="4486275"/>
            <a:ext cx="1000125" cy="266700"/>
          </a:xfrm>
          <a:prstGeom xmlns:a="http://schemas.openxmlformats.org/drawingml/2006/main" prst="rect">
            <a:avLst/>
          </a:prstGeom>
          <a:solidFill xmlns:a="http://schemas.openxmlformats.org/drawingml/2006/main">
            <a:srgbClr val="C9473A"/>
          </a:solidFill>
          <a:ln xmlns:a="http://schemas.openxmlformats.org/drawingml/2006/main" w="9525">
            <a:solidFill>
              <a:srgbClr val="C9473A"/>
            </a:solidFill>
            <a:prstDash val="solid"/>
          </a:ln>
        </p:spPr>
      </p:sp>
      <p:sp>
        <p:nvSpPr>
          <p:cNvPr id="24" name="minorval-3">
            <a:extLst xmlns:a="http://schemas.openxmlformats.org/drawingml/2006/main">
              <a:ext uri="{FF2B5EF4-FFF2-40B4-BE49-F238E27FC236}">
                <a16:creationId xmlns:a16="http://schemas.microsoft.com/office/drawing/2014/main" id="{374AF056-D7A9-4AE8-B5FF-15B37B936A8E}"/>
              </a:ext>
            </a:extLst>
          </p:cNvPr>
          <p:cNvSpPr>
            <a:spLocks xmlns:a="http://schemas.openxmlformats.org/drawingml/2006/main" noGrp="1"/>
          </p:cNvSpPr>
          <p:nvPr/>
        </p:nvSpPr>
        <p:spPr>
          <a:xfrm xmlns:a="http://schemas.openxmlformats.org/drawingml/2006/main">
            <a:off x="6762750" y="44481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15</a:t>
            </a:r>
          </a:p>
        </p:txBody>
      </p:sp>
      <p:sp>
        <p:nvSpPr>
          <p:cNvPr id="25" name="majorbar-3">
            <a:extLst xmlns:a="http://schemas.openxmlformats.org/drawingml/2006/main">
              <a:ext uri="{FF2B5EF4-FFF2-40B4-BE49-F238E27FC236}">
                <a16:creationId xmlns:a16="http://schemas.microsoft.com/office/drawing/2014/main" id="{8842EA11-40E5-48B3-8D2A-959B57871AEA}"/>
              </a:ext>
            </a:extLst>
          </p:cNvPr>
          <p:cNvSpPr>
            <a:spLocks xmlns:a="http://schemas.openxmlformats.org/drawingml/2006/main" noGrp="1"/>
          </p:cNvSpPr>
          <p:nvPr/>
        </p:nvSpPr>
        <p:spPr>
          <a:xfrm xmlns:a="http://schemas.openxmlformats.org/drawingml/2006/main">
            <a:off x="7715250" y="4486275"/>
            <a:ext cx="571500" cy="266700"/>
          </a:xfrm>
          <a:prstGeom xmlns:a="http://schemas.openxmlformats.org/drawingml/2006/main" prst="rect">
            <a:avLst/>
          </a:prstGeom>
          <a:solidFill xmlns:a="http://schemas.openxmlformats.org/drawingml/2006/main">
            <a:srgbClr val="59616D"/>
          </a:solidFill>
          <a:ln xmlns:a="http://schemas.openxmlformats.org/drawingml/2006/main" w="9525">
            <a:solidFill>
              <a:srgbClr val="59616D"/>
            </a:solidFill>
            <a:prstDash val="solid"/>
          </a:ln>
        </p:spPr>
      </p:sp>
      <p:sp>
        <p:nvSpPr>
          <p:cNvPr id="26" name="majorval-3">
            <a:extLst xmlns:a="http://schemas.openxmlformats.org/drawingml/2006/main">
              <a:ext uri="{FF2B5EF4-FFF2-40B4-BE49-F238E27FC236}">
                <a16:creationId xmlns:a16="http://schemas.microsoft.com/office/drawing/2014/main" id="{3606C02E-FC41-4863-9E3D-58F0EBF9FFF6}"/>
              </a:ext>
            </a:extLst>
          </p:cNvPr>
          <p:cNvSpPr>
            <a:spLocks xmlns:a="http://schemas.openxmlformats.org/drawingml/2006/main" noGrp="1"/>
          </p:cNvSpPr>
          <p:nvPr/>
        </p:nvSpPr>
        <p:spPr>
          <a:xfrm xmlns:a="http://schemas.openxmlformats.org/drawingml/2006/main">
            <a:off x="10048875" y="44481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6</a:t>
            </a:r>
          </a:p>
        </p:txBody>
      </p:sp>
      <p:sp>
        <p:nvSpPr>
          <p:cNvPr id="27" name="site-4">
            <a:extLst xmlns:a="http://schemas.openxmlformats.org/drawingml/2006/main">
              <a:ext uri="{FF2B5EF4-FFF2-40B4-BE49-F238E27FC236}">
                <a16:creationId xmlns:a16="http://schemas.microsoft.com/office/drawing/2014/main" id="{5166EE31-9CC7-4EFA-851E-09E3BAE2AB80}"/>
              </a:ext>
            </a:extLst>
          </p:cNvPr>
          <p:cNvSpPr>
            <a:spLocks xmlns:a="http://schemas.openxmlformats.org/drawingml/2006/main" noGrp="1"/>
          </p:cNvSpPr>
          <p:nvPr/>
        </p:nvSpPr>
        <p:spPr>
          <a:xfrm xmlns:a="http://schemas.openxmlformats.org/drawingml/2006/main">
            <a:off x="1238250" y="505777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4C16</a:t>
            </a:r>
          </a:p>
        </p:txBody>
      </p:sp>
      <p:sp>
        <p:nvSpPr>
          <p:cNvPr id="28" name="minorbar-4">
            <a:extLst xmlns:a="http://schemas.openxmlformats.org/drawingml/2006/main">
              <a:ext uri="{FF2B5EF4-FFF2-40B4-BE49-F238E27FC236}">
                <a16:creationId xmlns:a16="http://schemas.microsoft.com/office/drawing/2014/main" id="{A90DDCA2-1A25-4514-96DE-74CE5DAE62FF}"/>
              </a:ext>
            </a:extLst>
          </p:cNvPr>
          <p:cNvSpPr>
            <a:spLocks xmlns:a="http://schemas.openxmlformats.org/drawingml/2006/main" noGrp="1"/>
          </p:cNvSpPr>
          <p:nvPr/>
        </p:nvSpPr>
        <p:spPr>
          <a:xfrm xmlns:a="http://schemas.openxmlformats.org/drawingml/2006/main">
            <a:off x="3714750" y="5095875"/>
            <a:ext cx="466725" cy="266700"/>
          </a:xfrm>
          <a:prstGeom xmlns:a="http://schemas.openxmlformats.org/drawingml/2006/main" prst="rect">
            <a:avLst/>
          </a:prstGeom>
          <a:solidFill xmlns:a="http://schemas.openxmlformats.org/drawingml/2006/main">
            <a:srgbClr val="C9473A"/>
          </a:solidFill>
          <a:ln xmlns:a="http://schemas.openxmlformats.org/drawingml/2006/main" w="9525">
            <a:solidFill>
              <a:srgbClr val="C9473A"/>
            </a:solidFill>
            <a:prstDash val="solid"/>
          </a:ln>
        </p:spPr>
      </p:sp>
      <p:sp>
        <p:nvSpPr>
          <p:cNvPr id="29" name="minorval-4">
            <a:extLst xmlns:a="http://schemas.openxmlformats.org/drawingml/2006/main">
              <a:ext uri="{FF2B5EF4-FFF2-40B4-BE49-F238E27FC236}">
                <a16:creationId xmlns:a16="http://schemas.microsoft.com/office/drawing/2014/main" id="{322D8AD6-4382-4E1B-8834-9F8A9C9B44AC}"/>
              </a:ext>
            </a:extLst>
          </p:cNvPr>
          <p:cNvSpPr>
            <a:spLocks xmlns:a="http://schemas.openxmlformats.org/drawingml/2006/main" noGrp="1"/>
          </p:cNvSpPr>
          <p:nvPr/>
        </p:nvSpPr>
        <p:spPr>
          <a:xfrm xmlns:a="http://schemas.openxmlformats.org/drawingml/2006/main">
            <a:off x="6762750" y="50577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7</a:t>
            </a:r>
          </a:p>
        </p:txBody>
      </p:sp>
      <p:sp>
        <p:nvSpPr>
          <p:cNvPr id="30" name="majorbar-4">
            <a:extLst xmlns:a="http://schemas.openxmlformats.org/drawingml/2006/main">
              <a:ext uri="{FF2B5EF4-FFF2-40B4-BE49-F238E27FC236}">
                <a16:creationId xmlns:a16="http://schemas.microsoft.com/office/drawing/2014/main" id="{8872D74D-E6CB-4B6B-8BAB-BE340D32458E}"/>
              </a:ext>
            </a:extLst>
          </p:cNvPr>
          <p:cNvSpPr>
            <a:spLocks xmlns:a="http://schemas.openxmlformats.org/drawingml/2006/main" noGrp="1"/>
          </p:cNvSpPr>
          <p:nvPr/>
        </p:nvSpPr>
        <p:spPr>
          <a:xfrm xmlns:a="http://schemas.openxmlformats.org/drawingml/2006/main">
            <a:off x="7715250" y="5095875"/>
            <a:ext cx="1619250" cy="266700"/>
          </a:xfrm>
          <a:prstGeom xmlns:a="http://schemas.openxmlformats.org/drawingml/2006/main" prst="rect">
            <a:avLst/>
          </a:prstGeom>
          <a:solidFill xmlns:a="http://schemas.openxmlformats.org/drawingml/2006/main">
            <a:srgbClr val="59616D"/>
          </a:solidFill>
          <a:ln xmlns:a="http://schemas.openxmlformats.org/drawingml/2006/main" w="9525">
            <a:solidFill>
              <a:srgbClr val="59616D"/>
            </a:solidFill>
            <a:prstDash val="solid"/>
          </a:ln>
        </p:spPr>
      </p:sp>
      <p:sp>
        <p:nvSpPr>
          <p:cNvPr id="31" name="majorval-4">
            <a:extLst xmlns:a="http://schemas.openxmlformats.org/drawingml/2006/main">
              <a:ext uri="{FF2B5EF4-FFF2-40B4-BE49-F238E27FC236}">
                <a16:creationId xmlns:a16="http://schemas.microsoft.com/office/drawing/2014/main" id="{D6969310-295D-4506-99B1-E24EDA5EA08E}"/>
              </a:ext>
            </a:extLst>
          </p:cNvPr>
          <p:cNvSpPr>
            <a:spLocks xmlns:a="http://schemas.openxmlformats.org/drawingml/2006/main" noGrp="1"/>
          </p:cNvSpPr>
          <p:nvPr/>
        </p:nvSpPr>
        <p:spPr>
          <a:xfrm xmlns:a="http://schemas.openxmlformats.org/drawingml/2006/main">
            <a:off x="10048875" y="50577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17</a:t>
            </a:r>
          </a:p>
        </p:txBody>
      </p:sp>
      <p:sp>
        <p:nvSpPr>
          <p:cNvPr id="32" name="footer">
            <a:extLst xmlns:a="http://schemas.openxmlformats.org/drawingml/2006/main">
              <a:ext uri="{FF2B5EF4-FFF2-40B4-BE49-F238E27FC236}">
                <a16:creationId xmlns:a16="http://schemas.microsoft.com/office/drawing/2014/main" id="{F1255BEB-0835-4846-8BED-523E481A7689}"/>
              </a:ext>
            </a:extLst>
          </p:cNvPr>
          <p:cNvSpPr>
            <a:spLocks xmlns:a="http://schemas.openxmlformats.org/drawingml/2006/main" noGrp="1"/>
          </p:cNvSpPr>
          <p:nvPr/>
        </p:nvSpPr>
        <p:spPr>
          <a:xfrm xmlns:a="http://schemas.openxmlformats.org/drawingml/2006/main">
            <a:off x="11201400" y="632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9616D"/>
                </a:solidFill>
              </a:defRPr>
            </a:pPr>
            <a:r>
              <a:rPr sz="975" b="0">
                <a:solidFill>
                  <a:srgbClr val="59616D"/>
                </a:solidFill>
              </a:rPr>
              <a:t>10</a:t>
            </a:r>
          </a:p>
        </p:txBody>
      </p:sp>
    </p:spTree>
    <p:extLst>
      <p:ext uri="{BB962C8B-B14F-4D97-AF65-F5344CB8AC3E}">
        <p14:creationId xmlns:p14="http://schemas.microsoft.com/office/powerpoint/2010/main" val="229484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2026-07-30T06:20:39.5000000Z</dcterms:created>
  <dcterms:modified xsi:type="dcterms:W3CDTF">2026-07-30T06:20:39.5000000Z</dcterms:modified>
</coreProperties>
</file>